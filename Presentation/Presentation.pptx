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63" r:id="rId4"/>
    <p:sldId id="258" r:id="rId5"/>
    <p:sldId id="262" r:id="rId6"/>
    <p:sldId id="259" r:id="rId7"/>
    <p:sldId id="260" r:id="rId8"/>
    <p:sldId id="261"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827"/>
    <a:srgbClr val="262626"/>
    <a:srgbClr val="506566"/>
    <a:srgbClr val="9EB0B2"/>
    <a:srgbClr val="A90707"/>
    <a:srgbClr val="2E3E3E"/>
    <a:srgbClr val="EAEAEA"/>
    <a:srgbClr val="8DA5A7"/>
    <a:srgbClr val="788F91"/>
    <a:srgbClr val="637A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4" d="100"/>
          <a:sy n="104" d="100"/>
        </p:scale>
        <p:origin x="14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AE9A6-93CD-A5F0-D722-871566805B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5A560C-36F0-ED09-C28E-09917FAF72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7CD13C-1A65-087E-F320-54EA8ACE5E3C}"/>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5" name="Footer Placeholder 4">
            <a:extLst>
              <a:ext uri="{FF2B5EF4-FFF2-40B4-BE49-F238E27FC236}">
                <a16:creationId xmlns:a16="http://schemas.microsoft.com/office/drawing/2014/main" id="{7CD2094B-1465-F2D7-821E-BA1BD275C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69711-8B2C-03AF-3778-51F1116918B5}"/>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3571153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7DD3E-E577-BDA4-0EEE-27B9072FB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BED282-31CE-62F9-AED7-D4A2CA4203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B4D11-1EA2-6B9D-E7E3-872582EF8198}"/>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5" name="Footer Placeholder 4">
            <a:extLst>
              <a:ext uri="{FF2B5EF4-FFF2-40B4-BE49-F238E27FC236}">
                <a16:creationId xmlns:a16="http://schemas.microsoft.com/office/drawing/2014/main" id="{73E0426E-08D6-C2C6-B0E2-B9D20CDB7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C8D789-8259-E7B8-5620-01BD73EB06A4}"/>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1472500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2FD27-A07E-1C9F-1CBC-ABA4844DC9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5E4706-B30C-557D-6545-469976A941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2AA382-3055-4615-7CBD-074D30DE6520}"/>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5" name="Footer Placeholder 4">
            <a:extLst>
              <a:ext uri="{FF2B5EF4-FFF2-40B4-BE49-F238E27FC236}">
                <a16:creationId xmlns:a16="http://schemas.microsoft.com/office/drawing/2014/main" id="{DF2E39CB-8920-D11E-ACC3-2FB04145C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23915-BCF7-C8B8-461B-2FF6654030E9}"/>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3485019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7888-1F62-AEBC-803B-44FF97B3A7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C5F560-8101-7C80-C737-F13E4B8E33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8266F4-2CCE-522F-3764-D6FF583F46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730B33-180D-6E66-88D7-C2B3629D3A51}"/>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6" name="Footer Placeholder 5">
            <a:extLst>
              <a:ext uri="{FF2B5EF4-FFF2-40B4-BE49-F238E27FC236}">
                <a16:creationId xmlns:a16="http://schemas.microsoft.com/office/drawing/2014/main" id="{7401B9B6-65C1-6185-CAB2-9882A7C58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6A3FFE-4A93-49D1-8202-6C72FDAF1CFC}"/>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3382956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45EAF-FA9A-8A18-6292-8A32DA7BC6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BE61FE-6291-876B-B763-C289836083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CA8E82-9D4F-470D-16D0-E3DAC31147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B6866C-C1AF-11B5-EE3C-2C07E10DAC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C41DE8-158F-0149-FD03-27951DDBF7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B92B55-8888-3861-5569-2EDDC76A9DD2}"/>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8" name="Footer Placeholder 7">
            <a:extLst>
              <a:ext uri="{FF2B5EF4-FFF2-40B4-BE49-F238E27FC236}">
                <a16:creationId xmlns:a16="http://schemas.microsoft.com/office/drawing/2014/main" id="{C7A43377-D712-7714-7433-F93F981D45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57CEA7-DC74-3635-52B4-030BDDBA6A34}"/>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888736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13EB7-24E7-90FA-B6CA-5D11B08B10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FDE8CD-04B6-A9CD-26BA-0101ABADC89D}"/>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4" name="Footer Placeholder 3">
            <a:extLst>
              <a:ext uri="{FF2B5EF4-FFF2-40B4-BE49-F238E27FC236}">
                <a16:creationId xmlns:a16="http://schemas.microsoft.com/office/drawing/2014/main" id="{7686F8C3-804D-E726-9AF8-3773021E60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92D3AE-75C4-CE68-5C9A-89E5EA84F9F0}"/>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1484224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1BF744-44A4-9839-77F7-3B35CE472B5F}"/>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3" name="Footer Placeholder 2">
            <a:extLst>
              <a:ext uri="{FF2B5EF4-FFF2-40B4-BE49-F238E27FC236}">
                <a16:creationId xmlns:a16="http://schemas.microsoft.com/office/drawing/2014/main" id="{589A9EAC-F9A1-0345-7D6F-067C511626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EA84F3-BBF3-73CD-1244-C23787C8F2AB}"/>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2301320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6DA33-8BB9-CE5B-2E5E-F43602A769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0F3799-F2A5-1E6D-02AC-EDC4D6A58C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976003-251B-838C-A82A-A15EB9D1AE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F025EB-F41A-ACE0-776D-DF47DDB0D33F}"/>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6" name="Footer Placeholder 5">
            <a:extLst>
              <a:ext uri="{FF2B5EF4-FFF2-40B4-BE49-F238E27FC236}">
                <a16:creationId xmlns:a16="http://schemas.microsoft.com/office/drawing/2014/main" id="{50512980-C1F7-ED96-68F8-6088D65B08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691356-8FA6-2229-4477-922C807951B4}"/>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644142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B8B4-E8D4-7DC0-B1B6-ACBB42C3FB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00B152-0AC7-7736-33C2-ABB3B8A70E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A840B1-81F0-2EF4-F7A9-17CE551520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06821D-444F-C2E0-913A-F7F343886E1B}"/>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6" name="Footer Placeholder 5">
            <a:extLst>
              <a:ext uri="{FF2B5EF4-FFF2-40B4-BE49-F238E27FC236}">
                <a16:creationId xmlns:a16="http://schemas.microsoft.com/office/drawing/2014/main" id="{436D7166-F461-F837-0672-34146E5104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64E489-AF55-8300-2837-D64A3C9584F9}"/>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235878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2E92-3B67-EDF9-F6AE-2E387572E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B1DE7A-C972-9F07-A285-35167E05BD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B7C2E7-1C6E-4558-1D32-D82F891699F1}"/>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5" name="Footer Placeholder 4">
            <a:extLst>
              <a:ext uri="{FF2B5EF4-FFF2-40B4-BE49-F238E27FC236}">
                <a16:creationId xmlns:a16="http://schemas.microsoft.com/office/drawing/2014/main" id="{29CF83E5-47CB-DA62-76AB-DCD7CEAB7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E84CC1-2092-B448-F25E-1CF1C219B5A7}"/>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3873471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DF636F-E150-989B-3E80-EB38192F80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028159-EC1F-3C34-3689-C35E6A1987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63047-FDBB-B1FD-6554-494D0E8CA601}"/>
              </a:ext>
            </a:extLst>
          </p:cNvPr>
          <p:cNvSpPr>
            <a:spLocks noGrp="1"/>
          </p:cNvSpPr>
          <p:nvPr>
            <p:ph type="dt" sz="half" idx="10"/>
          </p:nvPr>
        </p:nvSpPr>
        <p:spPr/>
        <p:txBody>
          <a:bodyPr/>
          <a:lstStyle/>
          <a:p>
            <a:fld id="{9855CB26-30D7-459E-A0DE-502044681B97}" type="datetimeFigureOut">
              <a:rPr lang="en-US" smtClean="0"/>
              <a:t>1/13/2026</a:t>
            </a:fld>
            <a:endParaRPr lang="en-US"/>
          </a:p>
        </p:txBody>
      </p:sp>
      <p:sp>
        <p:nvSpPr>
          <p:cNvPr id="5" name="Footer Placeholder 4">
            <a:extLst>
              <a:ext uri="{FF2B5EF4-FFF2-40B4-BE49-F238E27FC236}">
                <a16:creationId xmlns:a16="http://schemas.microsoft.com/office/drawing/2014/main" id="{A6A73ACA-8F9D-826E-378A-4FC4C95666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411A6-F0B5-56C9-2D8F-7BA1BDAF3583}"/>
              </a:ext>
            </a:extLst>
          </p:cNvPr>
          <p:cNvSpPr>
            <a:spLocks noGrp="1"/>
          </p:cNvSpPr>
          <p:nvPr>
            <p:ph type="sldNum" sz="quarter" idx="12"/>
          </p:nvPr>
        </p:nvSpPr>
        <p:spPr/>
        <p:txBody>
          <a:bodyPr/>
          <a:lstStyle/>
          <a:p>
            <a:fld id="{5A696FCD-4E8E-4781-9E22-8BAFDB2DE274}" type="slidenum">
              <a:rPr lang="en-US" smtClean="0"/>
              <a:t>‹#›</a:t>
            </a:fld>
            <a:endParaRPr lang="en-US"/>
          </a:p>
        </p:txBody>
      </p:sp>
    </p:spTree>
    <p:extLst>
      <p:ext uri="{BB962C8B-B14F-4D97-AF65-F5344CB8AC3E}">
        <p14:creationId xmlns:p14="http://schemas.microsoft.com/office/powerpoint/2010/main" val="331083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297608-0F76-943D-3DC2-185C56C217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1AA9B8-15F4-A684-13FB-8BB8AE1282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0A4CA-A82E-E011-1F00-2A2F502B9A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55CB26-30D7-459E-A0DE-502044681B97}" type="datetimeFigureOut">
              <a:rPr lang="en-US" smtClean="0"/>
              <a:t>1/13/2026</a:t>
            </a:fld>
            <a:endParaRPr lang="en-US"/>
          </a:p>
        </p:txBody>
      </p:sp>
      <p:sp>
        <p:nvSpPr>
          <p:cNvPr id="5" name="Footer Placeholder 4">
            <a:extLst>
              <a:ext uri="{FF2B5EF4-FFF2-40B4-BE49-F238E27FC236}">
                <a16:creationId xmlns:a16="http://schemas.microsoft.com/office/drawing/2014/main" id="{A98D662C-5255-5884-D0E4-2DA56A9C36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A7F65B-1B19-4185-0C82-5ED6818F0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696FCD-4E8E-4781-9E22-8BAFDB2DE274}" type="slidenum">
              <a:rPr lang="en-US" smtClean="0"/>
              <a:t>‹#›</a:t>
            </a:fld>
            <a:endParaRPr lang="en-US"/>
          </a:p>
        </p:txBody>
      </p:sp>
    </p:spTree>
    <p:extLst>
      <p:ext uri="{BB962C8B-B14F-4D97-AF65-F5344CB8AC3E}">
        <p14:creationId xmlns:p14="http://schemas.microsoft.com/office/powerpoint/2010/main" val="1366456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6A9C9-9828-EA01-CED3-D80859F41C61}"/>
              </a:ext>
            </a:extLst>
          </p:cNvPr>
          <p:cNvSpPr>
            <a:spLocks noGrp="1"/>
          </p:cNvSpPr>
          <p:nvPr>
            <p:ph type="title"/>
          </p:nvPr>
        </p:nvSpPr>
        <p:spPr>
          <a:xfrm>
            <a:off x="828771" y="1649692"/>
            <a:ext cx="6571269" cy="1300900"/>
          </a:xfrm>
        </p:spPr>
        <p:txBody>
          <a:bodyPr>
            <a:normAutofit/>
          </a:bodyPr>
          <a:lstStyle/>
          <a:p>
            <a:r>
              <a:rPr lang="en-US" b="1" dirty="0">
                <a:solidFill>
                  <a:schemeClr val="bg1"/>
                </a:solidFill>
              </a:rPr>
              <a:t>OVERALL PERFORMANCE</a:t>
            </a:r>
          </a:p>
        </p:txBody>
      </p:sp>
      <p:sp>
        <p:nvSpPr>
          <p:cNvPr id="12" name="TextBox 11">
            <a:extLst>
              <a:ext uri="{FF2B5EF4-FFF2-40B4-BE49-F238E27FC236}">
                <a16:creationId xmlns:a16="http://schemas.microsoft.com/office/drawing/2014/main" id="{B04419CD-6AFD-4677-FAB4-CF890DC6237F}"/>
              </a:ext>
            </a:extLst>
          </p:cNvPr>
          <p:cNvSpPr txBox="1"/>
          <p:nvPr/>
        </p:nvSpPr>
        <p:spPr>
          <a:xfrm>
            <a:off x="838198" y="3429000"/>
            <a:ext cx="6094428" cy="461665"/>
          </a:xfrm>
          <a:prstGeom prst="rect">
            <a:avLst/>
          </a:prstGeom>
          <a:noFill/>
        </p:spPr>
        <p:txBody>
          <a:bodyPr wrap="square">
            <a:spAutoFit/>
          </a:bodyPr>
          <a:lstStyle/>
          <a:p>
            <a:r>
              <a:rPr lang="en-US" sz="2400" b="1" dirty="0">
                <a:solidFill>
                  <a:schemeClr val="bg1"/>
                </a:solidFill>
              </a:rPr>
              <a:t>Presented by : Hosham Younis</a:t>
            </a:r>
          </a:p>
        </p:txBody>
      </p:sp>
      <p:sp>
        <p:nvSpPr>
          <p:cNvPr id="14" name="TextBox 13">
            <a:extLst>
              <a:ext uri="{FF2B5EF4-FFF2-40B4-BE49-F238E27FC236}">
                <a16:creationId xmlns:a16="http://schemas.microsoft.com/office/drawing/2014/main" id="{68DE2325-E46C-D7B7-80DF-D4F7757657BA}"/>
              </a:ext>
            </a:extLst>
          </p:cNvPr>
          <p:cNvSpPr txBox="1"/>
          <p:nvPr/>
        </p:nvSpPr>
        <p:spPr>
          <a:xfrm>
            <a:off x="838198" y="4161090"/>
            <a:ext cx="6094428" cy="461665"/>
          </a:xfrm>
          <a:prstGeom prst="rect">
            <a:avLst/>
          </a:prstGeom>
          <a:noFill/>
        </p:spPr>
        <p:txBody>
          <a:bodyPr wrap="square">
            <a:spAutoFit/>
          </a:bodyPr>
          <a:lstStyle/>
          <a:p>
            <a:r>
              <a:rPr lang="en-US" sz="2400" b="1" dirty="0">
                <a:solidFill>
                  <a:schemeClr val="bg1"/>
                </a:solidFill>
              </a:rPr>
              <a:t>Last updated </a:t>
            </a:r>
            <a:r>
              <a:rPr lang="ar-SA" sz="2400" b="1" dirty="0">
                <a:solidFill>
                  <a:schemeClr val="bg1"/>
                </a:solidFill>
              </a:rPr>
              <a:t>  :</a:t>
            </a:r>
            <a:r>
              <a:rPr lang="en-US" sz="2400" b="1" dirty="0">
                <a:solidFill>
                  <a:schemeClr val="bg1"/>
                </a:solidFill>
              </a:rPr>
              <a:t>June 1sth.2021</a:t>
            </a:r>
          </a:p>
        </p:txBody>
      </p:sp>
      <p:sp>
        <p:nvSpPr>
          <p:cNvPr id="15" name="Minus Sign 14">
            <a:extLst>
              <a:ext uri="{FF2B5EF4-FFF2-40B4-BE49-F238E27FC236}">
                <a16:creationId xmlns:a16="http://schemas.microsoft.com/office/drawing/2014/main" id="{60B7C4E2-BC74-A1D2-8027-7933A330F625}"/>
              </a:ext>
            </a:extLst>
          </p:cNvPr>
          <p:cNvSpPr/>
          <p:nvPr/>
        </p:nvSpPr>
        <p:spPr>
          <a:xfrm rot="5400000">
            <a:off x="-1933288" y="2988299"/>
            <a:ext cx="4289198" cy="688158"/>
          </a:xfrm>
          <a:prstGeom prst="mathMinus">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9661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A3A118D-1744-F160-D5A0-536E690D7EFA}"/>
              </a:ext>
            </a:extLst>
          </p:cNvPr>
          <p:cNvSpPr>
            <a:spLocks noGrp="1" noRot="1" noMove="1" noResize="1" noEditPoints="1" noAdjustHandles="1" noChangeArrowheads="1" noChangeShapeType="1"/>
          </p:cNvSpPr>
          <p:nvPr/>
        </p:nvSpPr>
        <p:spPr>
          <a:xfrm rot="5400000">
            <a:off x="5137132" y="175329"/>
            <a:ext cx="2743200" cy="2743200"/>
          </a:xfrm>
          <a:custGeom>
            <a:avLst/>
            <a:gdLst>
              <a:gd name="connsiteX0" fmla="*/ 457209 w 2722407"/>
              <a:gd name="connsiteY0" fmla="*/ 0 h 2161378"/>
              <a:gd name="connsiteX1" fmla="*/ 2722407 w 2722407"/>
              <a:gd name="connsiteY1" fmla="*/ 0 h 2161378"/>
              <a:gd name="connsiteX2" fmla="*/ 0 w 2722407"/>
              <a:gd name="connsiteY2" fmla="*/ 2161378 h 2161378"/>
              <a:gd name="connsiteX3" fmla="*/ 0 w 2722407"/>
              <a:gd name="connsiteY3" fmla="*/ 457209 h 2161378"/>
              <a:gd name="connsiteX4" fmla="*/ 457209 w 2722407"/>
              <a:gd name="connsiteY4" fmla="*/ 0 h 2161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2407" h="2161378">
                <a:moveTo>
                  <a:pt x="457209" y="0"/>
                </a:moveTo>
                <a:lnTo>
                  <a:pt x="2722407" y="0"/>
                </a:lnTo>
                <a:lnTo>
                  <a:pt x="0" y="2161378"/>
                </a:lnTo>
                <a:lnTo>
                  <a:pt x="0" y="457209"/>
                </a:lnTo>
                <a:cubicBezTo>
                  <a:pt x="0" y="204699"/>
                  <a:pt x="204699" y="0"/>
                  <a:pt x="457209" y="0"/>
                </a:cubicBezTo>
                <a:close/>
              </a:path>
            </a:pathLst>
          </a:custGeom>
          <a:solidFill>
            <a:srgbClr val="2E3E3E"/>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7B82B44C-EF40-178C-8538-51ECEF15CE3B}"/>
              </a:ext>
            </a:extLst>
          </p:cNvPr>
          <p:cNvSpPr>
            <a:spLocks noGrp="1" noRot="1" noMove="1" noResize="1" noEditPoints="1" noAdjustHandles="1" noChangeArrowheads="1" noChangeShapeType="1"/>
          </p:cNvSpPr>
          <p:nvPr/>
        </p:nvSpPr>
        <p:spPr>
          <a:xfrm rot="8064936">
            <a:off x="6358055" y="892955"/>
            <a:ext cx="2743200" cy="2743200"/>
          </a:xfrm>
          <a:custGeom>
            <a:avLst/>
            <a:gdLst>
              <a:gd name="connsiteX0" fmla="*/ 457209 w 2722407"/>
              <a:gd name="connsiteY0" fmla="*/ 0 h 2161378"/>
              <a:gd name="connsiteX1" fmla="*/ 2722407 w 2722407"/>
              <a:gd name="connsiteY1" fmla="*/ 0 h 2161378"/>
              <a:gd name="connsiteX2" fmla="*/ 0 w 2722407"/>
              <a:gd name="connsiteY2" fmla="*/ 2161378 h 2161378"/>
              <a:gd name="connsiteX3" fmla="*/ 0 w 2722407"/>
              <a:gd name="connsiteY3" fmla="*/ 457209 h 2161378"/>
              <a:gd name="connsiteX4" fmla="*/ 457209 w 2722407"/>
              <a:gd name="connsiteY4" fmla="*/ 0 h 2161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2407" h="2161378">
                <a:moveTo>
                  <a:pt x="457209" y="0"/>
                </a:moveTo>
                <a:lnTo>
                  <a:pt x="2722407" y="0"/>
                </a:lnTo>
                <a:lnTo>
                  <a:pt x="0" y="2161378"/>
                </a:lnTo>
                <a:lnTo>
                  <a:pt x="0" y="457209"/>
                </a:lnTo>
                <a:cubicBezTo>
                  <a:pt x="0" y="204699"/>
                  <a:pt x="204699" y="0"/>
                  <a:pt x="457209" y="0"/>
                </a:cubicBezTo>
                <a:close/>
              </a:path>
            </a:pathLst>
          </a:custGeom>
          <a:solidFill>
            <a:srgbClr val="3F5152"/>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8">
            <a:extLst>
              <a:ext uri="{FF2B5EF4-FFF2-40B4-BE49-F238E27FC236}">
                <a16:creationId xmlns:a16="http://schemas.microsoft.com/office/drawing/2014/main" id="{215DEEED-186F-157E-DE66-42D23FBD4374}"/>
              </a:ext>
            </a:extLst>
          </p:cNvPr>
          <p:cNvSpPr>
            <a:spLocks noGrp="1" noRot="1" noMove="1" noResize="1" noEditPoints="1" noAdjustHandles="1" noChangeArrowheads="1" noChangeShapeType="1"/>
          </p:cNvSpPr>
          <p:nvPr/>
        </p:nvSpPr>
        <p:spPr>
          <a:xfrm rot="10596093">
            <a:off x="6800579" y="2401959"/>
            <a:ext cx="2743200" cy="2743200"/>
          </a:xfrm>
          <a:custGeom>
            <a:avLst/>
            <a:gdLst>
              <a:gd name="connsiteX0" fmla="*/ 457209 w 2722407"/>
              <a:gd name="connsiteY0" fmla="*/ 0 h 2161378"/>
              <a:gd name="connsiteX1" fmla="*/ 2722407 w 2722407"/>
              <a:gd name="connsiteY1" fmla="*/ 0 h 2161378"/>
              <a:gd name="connsiteX2" fmla="*/ 0 w 2722407"/>
              <a:gd name="connsiteY2" fmla="*/ 2161378 h 2161378"/>
              <a:gd name="connsiteX3" fmla="*/ 0 w 2722407"/>
              <a:gd name="connsiteY3" fmla="*/ 457209 h 2161378"/>
              <a:gd name="connsiteX4" fmla="*/ 457209 w 2722407"/>
              <a:gd name="connsiteY4" fmla="*/ 0 h 2161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2407" h="2161378">
                <a:moveTo>
                  <a:pt x="457209" y="0"/>
                </a:moveTo>
                <a:lnTo>
                  <a:pt x="2722407" y="0"/>
                </a:lnTo>
                <a:lnTo>
                  <a:pt x="0" y="2161378"/>
                </a:lnTo>
                <a:lnTo>
                  <a:pt x="0" y="457209"/>
                </a:lnTo>
                <a:cubicBezTo>
                  <a:pt x="0" y="204699"/>
                  <a:pt x="204699" y="0"/>
                  <a:pt x="457209" y="0"/>
                </a:cubicBezTo>
                <a:close/>
              </a:path>
            </a:pathLst>
          </a:custGeom>
          <a:solidFill>
            <a:srgbClr val="506566"/>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F1A0FD04-5C0A-2746-009C-D8C43E247E94}"/>
              </a:ext>
            </a:extLst>
          </p:cNvPr>
          <p:cNvSpPr>
            <a:spLocks noGrp="1" noRot="1" noMove="1" noResize="1" noEditPoints="1" noAdjustHandles="1" noChangeArrowheads="1" noChangeShapeType="1"/>
          </p:cNvSpPr>
          <p:nvPr/>
        </p:nvSpPr>
        <p:spPr>
          <a:xfrm rot="13453755">
            <a:off x="6106215" y="3614751"/>
            <a:ext cx="2743200" cy="2743200"/>
          </a:xfrm>
          <a:custGeom>
            <a:avLst/>
            <a:gdLst>
              <a:gd name="connsiteX0" fmla="*/ 457209 w 2722407"/>
              <a:gd name="connsiteY0" fmla="*/ 0 h 2161378"/>
              <a:gd name="connsiteX1" fmla="*/ 2722407 w 2722407"/>
              <a:gd name="connsiteY1" fmla="*/ 0 h 2161378"/>
              <a:gd name="connsiteX2" fmla="*/ 0 w 2722407"/>
              <a:gd name="connsiteY2" fmla="*/ 2161378 h 2161378"/>
              <a:gd name="connsiteX3" fmla="*/ 0 w 2722407"/>
              <a:gd name="connsiteY3" fmla="*/ 457209 h 2161378"/>
              <a:gd name="connsiteX4" fmla="*/ 457209 w 2722407"/>
              <a:gd name="connsiteY4" fmla="*/ 0 h 2161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2407" h="2161378">
                <a:moveTo>
                  <a:pt x="457209" y="0"/>
                </a:moveTo>
                <a:lnTo>
                  <a:pt x="2722407" y="0"/>
                </a:lnTo>
                <a:lnTo>
                  <a:pt x="0" y="2161378"/>
                </a:lnTo>
                <a:lnTo>
                  <a:pt x="0" y="457209"/>
                </a:lnTo>
                <a:cubicBezTo>
                  <a:pt x="0" y="204699"/>
                  <a:pt x="204699" y="0"/>
                  <a:pt x="457209" y="0"/>
                </a:cubicBezTo>
                <a:close/>
              </a:path>
            </a:pathLst>
          </a:custGeom>
          <a:solidFill>
            <a:srgbClr val="637A7B"/>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1084DDF-92EB-437A-01BE-7AE8E690E5DC}"/>
              </a:ext>
            </a:extLst>
          </p:cNvPr>
          <p:cNvSpPr>
            <a:spLocks noGrp="1" noRot="1" noMove="1" noResize="1" noEditPoints="1" noAdjustHandles="1" noChangeArrowheads="1" noChangeShapeType="1"/>
          </p:cNvSpPr>
          <p:nvPr/>
        </p:nvSpPr>
        <p:spPr>
          <a:xfrm rot="16200000">
            <a:off x="4639090" y="3975465"/>
            <a:ext cx="2743200" cy="2743200"/>
          </a:xfrm>
          <a:custGeom>
            <a:avLst/>
            <a:gdLst>
              <a:gd name="connsiteX0" fmla="*/ 457209 w 2722407"/>
              <a:gd name="connsiteY0" fmla="*/ 0 h 2161378"/>
              <a:gd name="connsiteX1" fmla="*/ 2722407 w 2722407"/>
              <a:gd name="connsiteY1" fmla="*/ 0 h 2161378"/>
              <a:gd name="connsiteX2" fmla="*/ 0 w 2722407"/>
              <a:gd name="connsiteY2" fmla="*/ 2161378 h 2161378"/>
              <a:gd name="connsiteX3" fmla="*/ 0 w 2722407"/>
              <a:gd name="connsiteY3" fmla="*/ 457209 h 2161378"/>
              <a:gd name="connsiteX4" fmla="*/ 457209 w 2722407"/>
              <a:gd name="connsiteY4" fmla="*/ 0 h 2161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2407" h="2161378">
                <a:moveTo>
                  <a:pt x="457209" y="0"/>
                </a:moveTo>
                <a:lnTo>
                  <a:pt x="2722407" y="0"/>
                </a:lnTo>
                <a:lnTo>
                  <a:pt x="0" y="2161378"/>
                </a:lnTo>
                <a:lnTo>
                  <a:pt x="0" y="457209"/>
                </a:lnTo>
                <a:cubicBezTo>
                  <a:pt x="0" y="204699"/>
                  <a:pt x="204699" y="0"/>
                  <a:pt x="457209" y="0"/>
                </a:cubicBezTo>
                <a:close/>
              </a:path>
            </a:pathLst>
          </a:custGeom>
          <a:solidFill>
            <a:srgbClr val="788F9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D85C703-A132-56DF-0CBF-D4AB36B329E8}"/>
              </a:ext>
            </a:extLst>
          </p:cNvPr>
          <p:cNvSpPr>
            <a:spLocks noGrp="1" noRot="1" noMove="1" noResize="1" noEditPoints="1" noAdjustHandles="1" noChangeArrowheads="1" noChangeShapeType="1"/>
          </p:cNvSpPr>
          <p:nvPr/>
        </p:nvSpPr>
        <p:spPr>
          <a:xfrm rot="18845040">
            <a:off x="3284435" y="3120866"/>
            <a:ext cx="2743200" cy="2743200"/>
          </a:xfrm>
          <a:custGeom>
            <a:avLst/>
            <a:gdLst>
              <a:gd name="connsiteX0" fmla="*/ 457209 w 2722407"/>
              <a:gd name="connsiteY0" fmla="*/ 0 h 2161378"/>
              <a:gd name="connsiteX1" fmla="*/ 2722407 w 2722407"/>
              <a:gd name="connsiteY1" fmla="*/ 0 h 2161378"/>
              <a:gd name="connsiteX2" fmla="*/ 0 w 2722407"/>
              <a:gd name="connsiteY2" fmla="*/ 2161378 h 2161378"/>
              <a:gd name="connsiteX3" fmla="*/ 0 w 2722407"/>
              <a:gd name="connsiteY3" fmla="*/ 457209 h 2161378"/>
              <a:gd name="connsiteX4" fmla="*/ 457209 w 2722407"/>
              <a:gd name="connsiteY4" fmla="*/ 0 h 2161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2407" h="2161378">
                <a:moveTo>
                  <a:pt x="457209" y="0"/>
                </a:moveTo>
                <a:lnTo>
                  <a:pt x="2722407" y="0"/>
                </a:lnTo>
                <a:lnTo>
                  <a:pt x="0" y="2161378"/>
                </a:lnTo>
                <a:lnTo>
                  <a:pt x="0" y="457209"/>
                </a:lnTo>
                <a:cubicBezTo>
                  <a:pt x="0" y="204699"/>
                  <a:pt x="204699" y="0"/>
                  <a:pt x="457209" y="0"/>
                </a:cubicBezTo>
                <a:close/>
              </a:path>
            </a:pathLst>
          </a:custGeom>
          <a:solidFill>
            <a:srgbClr val="8DA5A7"/>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B82FB663-3BD7-BF6D-7EDC-CED456D28F30}"/>
              </a:ext>
            </a:extLst>
          </p:cNvPr>
          <p:cNvSpPr>
            <a:spLocks noGrp="1" noRot="1" noMove="1" noResize="1" noEditPoints="1" noAdjustHandles="1" noChangeArrowheads="1" noChangeShapeType="1"/>
          </p:cNvSpPr>
          <p:nvPr/>
        </p:nvSpPr>
        <p:spPr>
          <a:xfrm rot="161640">
            <a:off x="2991117" y="1749792"/>
            <a:ext cx="2743200" cy="2743200"/>
          </a:xfrm>
          <a:custGeom>
            <a:avLst/>
            <a:gdLst>
              <a:gd name="connsiteX0" fmla="*/ 457209 w 2722407"/>
              <a:gd name="connsiteY0" fmla="*/ 0 h 2161378"/>
              <a:gd name="connsiteX1" fmla="*/ 2722407 w 2722407"/>
              <a:gd name="connsiteY1" fmla="*/ 0 h 2161378"/>
              <a:gd name="connsiteX2" fmla="*/ 0 w 2722407"/>
              <a:gd name="connsiteY2" fmla="*/ 2161378 h 2161378"/>
              <a:gd name="connsiteX3" fmla="*/ 0 w 2722407"/>
              <a:gd name="connsiteY3" fmla="*/ 457209 h 2161378"/>
              <a:gd name="connsiteX4" fmla="*/ 457209 w 2722407"/>
              <a:gd name="connsiteY4" fmla="*/ 0 h 2161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2407" h="2161378">
                <a:moveTo>
                  <a:pt x="457209" y="0"/>
                </a:moveTo>
                <a:lnTo>
                  <a:pt x="2722407" y="0"/>
                </a:lnTo>
                <a:lnTo>
                  <a:pt x="0" y="2161378"/>
                </a:lnTo>
                <a:lnTo>
                  <a:pt x="0" y="457209"/>
                </a:lnTo>
                <a:cubicBezTo>
                  <a:pt x="0" y="204699"/>
                  <a:pt x="204699" y="0"/>
                  <a:pt x="457209" y="0"/>
                </a:cubicBezTo>
                <a:close/>
              </a:path>
            </a:pathLst>
          </a:custGeom>
          <a:solidFill>
            <a:srgbClr val="9EB0B2"/>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3161132A-45CB-64B5-9D99-413D08768646}"/>
              </a:ext>
            </a:extLst>
          </p:cNvPr>
          <p:cNvSpPr txBox="1">
            <a:spLocks noGrp="1" noRot="1" noMove="1" noResize="1" noEditPoints="1" noAdjustHandles="1" noChangeArrowheads="1" noChangeShapeType="1"/>
          </p:cNvSpPr>
          <p:nvPr/>
        </p:nvSpPr>
        <p:spPr>
          <a:xfrm>
            <a:off x="6168976" y="791255"/>
            <a:ext cx="1670643" cy="461665"/>
          </a:xfrm>
          <a:prstGeom prst="rect">
            <a:avLst/>
          </a:prstGeom>
          <a:noFill/>
        </p:spPr>
        <p:txBody>
          <a:bodyPr wrap="square" rtlCol="0">
            <a:spAutoFit/>
          </a:bodyPr>
          <a:lstStyle/>
          <a:p>
            <a:r>
              <a:rPr lang="en-US" sz="2400" b="1" dirty="0">
                <a:solidFill>
                  <a:schemeClr val="bg1"/>
                </a:solidFill>
              </a:rPr>
              <a:t>Overview</a:t>
            </a:r>
            <a:endParaRPr lang="en-US" b="1" dirty="0">
              <a:solidFill>
                <a:schemeClr val="bg1"/>
              </a:solidFill>
            </a:endParaRPr>
          </a:p>
        </p:txBody>
      </p:sp>
      <p:pic>
        <p:nvPicPr>
          <p:cNvPr id="4" name="Graphic 3" descr="Gauge with solid fill">
            <a:extLst>
              <a:ext uri="{FF2B5EF4-FFF2-40B4-BE49-F238E27FC236}">
                <a16:creationId xmlns:a16="http://schemas.microsoft.com/office/drawing/2014/main" id="{F40DB3F1-E1F2-6C48-CCA8-AABC36B5AB43}"/>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6638904" y="432272"/>
            <a:ext cx="412986" cy="412986"/>
          </a:xfrm>
          <a:prstGeom prst="rect">
            <a:avLst/>
          </a:prstGeom>
        </p:spPr>
      </p:pic>
      <p:graphicFrame>
        <p:nvGraphicFramePr>
          <p:cNvPr id="6" name="Table 5">
            <a:extLst>
              <a:ext uri="{FF2B5EF4-FFF2-40B4-BE49-F238E27FC236}">
                <a16:creationId xmlns:a16="http://schemas.microsoft.com/office/drawing/2014/main" id="{A337201A-E82C-1D84-8308-08F2B4E2D400}"/>
              </a:ext>
            </a:extLst>
          </p:cNvPr>
          <p:cNvGraphicFramePr>
            <a:graphicFrameLocks noGrp="1" noDrilldown="1" noMove="1" noResize="1"/>
          </p:cNvGraphicFramePr>
          <p:nvPr>
            <p:extLst>
              <p:ext uri="{D42A27DB-BD31-4B8C-83A1-F6EECF244321}">
                <p14:modId xmlns:p14="http://schemas.microsoft.com/office/powerpoint/2010/main" val="2071794286"/>
              </p:ext>
            </p:extLst>
          </p:nvPr>
        </p:nvGraphicFramePr>
        <p:xfrm>
          <a:off x="7852054" y="2004731"/>
          <a:ext cx="1556085" cy="579120"/>
        </p:xfrm>
        <a:graphic>
          <a:graphicData uri="http://schemas.openxmlformats.org/drawingml/2006/table">
            <a:tbl>
              <a:tblPr/>
              <a:tblGrid>
                <a:gridCol w="1556085">
                  <a:extLst>
                    <a:ext uri="{9D8B030D-6E8A-4147-A177-3AD203B41FA5}">
                      <a16:colId xmlns:a16="http://schemas.microsoft.com/office/drawing/2014/main" val="2403799250"/>
                    </a:ext>
                  </a:extLst>
                </a:gridCol>
              </a:tblGrid>
              <a:tr h="0">
                <a:tc>
                  <a:txBody>
                    <a:bodyPr/>
                    <a:lstStyle/>
                    <a:p>
                      <a:r>
                        <a:rPr lang="en-US" sz="1600" b="1" kern="1200" dirty="0">
                          <a:solidFill>
                            <a:schemeClr val="bg1"/>
                          </a:solidFill>
                          <a:latin typeface="+mn-lt"/>
                          <a:ea typeface="+mn-ea"/>
                          <a:cs typeface="+mn-cs"/>
                        </a:rPr>
                        <a:t>Performance Consistency</a:t>
                      </a:r>
                    </a:p>
                  </a:txBody>
                  <a:tcPr anchor="ctr">
                    <a:lnL>
                      <a:noFill/>
                    </a:lnL>
                    <a:lnR>
                      <a:noFill/>
                    </a:lnR>
                    <a:lnT>
                      <a:noFill/>
                    </a:lnT>
                    <a:lnB>
                      <a:noFill/>
                    </a:lnB>
                    <a:noFill/>
                  </a:tcPr>
                </a:tc>
                <a:extLst>
                  <a:ext uri="{0D108BD9-81ED-4DB2-BD59-A6C34878D82A}">
                    <a16:rowId xmlns:a16="http://schemas.microsoft.com/office/drawing/2014/main" val="507181972"/>
                  </a:ext>
                </a:extLst>
              </a:tr>
            </a:tbl>
          </a:graphicData>
        </a:graphic>
      </p:graphicFrame>
      <p:pic>
        <p:nvPicPr>
          <p:cNvPr id="15" name="Graphic 14" descr="Bar graph with upward trend with solid fill">
            <a:extLst>
              <a:ext uri="{FF2B5EF4-FFF2-40B4-BE49-F238E27FC236}">
                <a16:creationId xmlns:a16="http://schemas.microsoft.com/office/drawing/2014/main" id="{471FB341-563A-3A85-3F33-7B7708AD057A}"/>
              </a:ext>
            </a:extLst>
          </p:cNvPr>
          <p:cNvPicPr>
            <a:picLocks noGrp="1" noRot="1" noChangeAspect="1" noMove="1" noResize="1" noEditPoints="1" noAdjustHandles="1" noChangeArrowheads="1" noChangeShapeType="1" noCrop="1"/>
          </p:cNvPicPr>
          <p:nvPr/>
        </p:nvPicPr>
        <p:blipFill>
          <a:blip r:embed="rId4">
            <a:extLst>
              <a:ext uri="{96DAC541-7B7A-43D3-8B79-37D633B846F1}">
                <asvg:svgBlip xmlns:asvg="http://schemas.microsoft.com/office/drawing/2016/SVG/main" r:embed="rId5"/>
              </a:ext>
            </a:extLst>
          </a:blip>
          <a:stretch>
            <a:fillRect/>
          </a:stretch>
        </p:blipFill>
        <p:spPr>
          <a:xfrm>
            <a:off x="8175551" y="1517345"/>
            <a:ext cx="496583" cy="496583"/>
          </a:xfrm>
          <a:prstGeom prst="rect">
            <a:avLst/>
          </a:prstGeom>
        </p:spPr>
      </p:pic>
      <p:graphicFrame>
        <p:nvGraphicFramePr>
          <p:cNvPr id="16" name="Table 15">
            <a:extLst>
              <a:ext uri="{FF2B5EF4-FFF2-40B4-BE49-F238E27FC236}">
                <a16:creationId xmlns:a16="http://schemas.microsoft.com/office/drawing/2014/main" id="{E5BF6C4B-9497-8031-A33E-218E15FDF8D4}"/>
              </a:ext>
            </a:extLst>
          </p:cNvPr>
          <p:cNvGraphicFramePr>
            <a:graphicFrameLocks noGrp="1" noDrilldown="1" noMove="1" noResize="1"/>
          </p:cNvGraphicFramePr>
          <p:nvPr>
            <p:extLst>
              <p:ext uri="{D42A27DB-BD31-4B8C-83A1-F6EECF244321}">
                <p14:modId xmlns:p14="http://schemas.microsoft.com/office/powerpoint/2010/main" val="1003748671"/>
              </p:ext>
            </p:extLst>
          </p:nvPr>
        </p:nvGraphicFramePr>
        <p:xfrm>
          <a:off x="7767196" y="4207018"/>
          <a:ext cx="1865292" cy="335280"/>
        </p:xfrm>
        <a:graphic>
          <a:graphicData uri="http://schemas.openxmlformats.org/drawingml/2006/table">
            <a:tbl>
              <a:tblPr/>
              <a:tblGrid>
                <a:gridCol w="1865292">
                  <a:extLst>
                    <a:ext uri="{9D8B030D-6E8A-4147-A177-3AD203B41FA5}">
                      <a16:colId xmlns:a16="http://schemas.microsoft.com/office/drawing/2014/main" val="521958130"/>
                    </a:ext>
                  </a:extLst>
                </a:gridCol>
              </a:tblGrid>
              <a:tr h="0">
                <a:tc>
                  <a:txBody>
                    <a:bodyPr/>
                    <a:lstStyle/>
                    <a:p>
                      <a:r>
                        <a:rPr lang="en-US" sz="1600" b="1" kern="1200" dirty="0">
                          <a:solidFill>
                            <a:schemeClr val="bg1"/>
                          </a:solidFill>
                          <a:latin typeface="+mn-lt"/>
                          <a:ea typeface="+mn-ea"/>
                          <a:cs typeface="+mn-cs"/>
                        </a:rPr>
                        <a:t>Revenue vs Profit</a:t>
                      </a:r>
                    </a:p>
                  </a:txBody>
                  <a:tcPr anchor="ctr">
                    <a:lnL>
                      <a:noFill/>
                    </a:lnL>
                    <a:lnR>
                      <a:noFill/>
                    </a:lnR>
                    <a:lnT>
                      <a:noFill/>
                    </a:lnT>
                    <a:lnB>
                      <a:noFill/>
                    </a:lnB>
                    <a:noFill/>
                  </a:tcPr>
                </a:tc>
                <a:extLst>
                  <a:ext uri="{0D108BD9-81ED-4DB2-BD59-A6C34878D82A}">
                    <a16:rowId xmlns:a16="http://schemas.microsoft.com/office/drawing/2014/main" val="1583142193"/>
                  </a:ext>
                </a:extLst>
              </a:tr>
            </a:tbl>
          </a:graphicData>
        </a:graphic>
      </p:graphicFrame>
      <p:pic>
        <p:nvPicPr>
          <p:cNvPr id="19" name="Graphic 18" descr="Coins with solid fill">
            <a:extLst>
              <a:ext uri="{FF2B5EF4-FFF2-40B4-BE49-F238E27FC236}">
                <a16:creationId xmlns:a16="http://schemas.microsoft.com/office/drawing/2014/main" id="{E8697E54-E9CF-F28C-1BB5-054949033D3C}"/>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a:xfrm>
            <a:off x="8444178" y="3698769"/>
            <a:ext cx="499955" cy="499955"/>
          </a:xfrm>
          <a:prstGeom prst="rect">
            <a:avLst/>
          </a:prstGeom>
        </p:spPr>
      </p:pic>
      <p:sp>
        <p:nvSpPr>
          <p:cNvPr id="21" name="TextBox 20">
            <a:extLst>
              <a:ext uri="{FF2B5EF4-FFF2-40B4-BE49-F238E27FC236}">
                <a16:creationId xmlns:a16="http://schemas.microsoft.com/office/drawing/2014/main" id="{3D8E2119-CE84-6A6B-F7B1-F9AC27751310}"/>
              </a:ext>
            </a:extLst>
          </p:cNvPr>
          <p:cNvSpPr txBox="1">
            <a:spLocks noGrp="1" noRot="1" noMove="1" noResize="1" noEditPoints="1" noAdjustHandles="1" noChangeArrowheads="1" noChangeShapeType="1"/>
          </p:cNvSpPr>
          <p:nvPr/>
        </p:nvSpPr>
        <p:spPr>
          <a:xfrm>
            <a:off x="6697122" y="5519669"/>
            <a:ext cx="1710925" cy="646331"/>
          </a:xfrm>
          <a:prstGeom prst="rect">
            <a:avLst/>
          </a:prstGeom>
          <a:noFill/>
        </p:spPr>
        <p:txBody>
          <a:bodyPr wrap="square">
            <a:spAutoFit/>
          </a:bodyPr>
          <a:lstStyle/>
          <a:p>
            <a:pPr algn="ctr"/>
            <a:r>
              <a:rPr lang="en-US" b="1" dirty="0">
                <a:solidFill>
                  <a:schemeClr val="bg1"/>
                </a:solidFill>
              </a:rPr>
              <a:t>Loss Concentration</a:t>
            </a:r>
          </a:p>
        </p:txBody>
      </p:sp>
      <p:pic>
        <p:nvPicPr>
          <p:cNvPr id="25" name="Graphic 24" descr="Bullseye with solid fill">
            <a:extLst>
              <a:ext uri="{FF2B5EF4-FFF2-40B4-BE49-F238E27FC236}">
                <a16:creationId xmlns:a16="http://schemas.microsoft.com/office/drawing/2014/main" id="{482AE35D-7B0E-B42B-C779-336EA20A1A90}"/>
              </a:ext>
            </a:extLst>
          </p:cNvPr>
          <p:cNvPicPr>
            <a:picLocks noGrp="1" noRot="1" noChangeAspect="1" noMove="1" noResize="1" noEditPoints="1" noAdjustHandles="1" noChangeArrowheads="1" noChangeShapeType="1" noCrop="1"/>
          </p:cNvPicPr>
          <p:nvPr/>
        </p:nvPicPr>
        <p:blipFill>
          <a:blip r:embed="rId8">
            <a:extLst>
              <a:ext uri="{96DAC541-7B7A-43D3-8B79-37D633B846F1}">
                <asvg:svgBlip xmlns:asvg="http://schemas.microsoft.com/office/drawing/2016/SVG/main" r:embed="rId9"/>
              </a:ext>
            </a:extLst>
          </a:blip>
          <a:stretch>
            <a:fillRect/>
          </a:stretch>
        </p:blipFill>
        <p:spPr>
          <a:xfrm>
            <a:off x="7317094" y="5093712"/>
            <a:ext cx="476383" cy="476383"/>
          </a:xfrm>
          <a:prstGeom prst="rect">
            <a:avLst/>
          </a:prstGeom>
        </p:spPr>
      </p:pic>
      <p:sp>
        <p:nvSpPr>
          <p:cNvPr id="27" name="TextBox 26">
            <a:extLst>
              <a:ext uri="{FF2B5EF4-FFF2-40B4-BE49-F238E27FC236}">
                <a16:creationId xmlns:a16="http://schemas.microsoft.com/office/drawing/2014/main" id="{CD013AC0-A6B2-D263-16AD-C7BE0F068FDC}"/>
              </a:ext>
            </a:extLst>
          </p:cNvPr>
          <p:cNvSpPr txBox="1">
            <a:spLocks noGrp="1" noRot="1" noMove="1" noResize="1" noEditPoints="1" noAdjustHandles="1" noChangeArrowheads="1" noChangeShapeType="1"/>
          </p:cNvSpPr>
          <p:nvPr/>
        </p:nvSpPr>
        <p:spPr>
          <a:xfrm>
            <a:off x="4922702" y="5830708"/>
            <a:ext cx="1466138" cy="369332"/>
          </a:xfrm>
          <a:prstGeom prst="rect">
            <a:avLst/>
          </a:prstGeom>
          <a:noFill/>
        </p:spPr>
        <p:txBody>
          <a:bodyPr wrap="square">
            <a:spAutoFit/>
          </a:bodyPr>
          <a:lstStyle/>
          <a:p>
            <a:r>
              <a:rPr lang="en-US" b="1" dirty="0">
                <a:solidFill>
                  <a:schemeClr val="bg1"/>
                </a:solidFill>
              </a:rPr>
              <a:t>Hidden Risk</a:t>
            </a:r>
          </a:p>
        </p:txBody>
      </p:sp>
      <p:pic>
        <p:nvPicPr>
          <p:cNvPr id="29" name="Graphic 28" descr="Research with solid fill">
            <a:extLst>
              <a:ext uri="{FF2B5EF4-FFF2-40B4-BE49-F238E27FC236}">
                <a16:creationId xmlns:a16="http://schemas.microsoft.com/office/drawing/2014/main" id="{875F5B9F-22A4-0C82-70A6-F0A99D2AFC12}"/>
              </a:ext>
            </a:extLst>
          </p:cNvPr>
          <p:cNvPicPr>
            <a:picLocks noGrp="1" noRot="1" noChangeAspect="1" noMove="1" noResize="1" noEditPoints="1" noAdjustHandles="1" noChangeArrowheads="1" noChangeShapeType="1" noCrop="1"/>
          </p:cNvPicPr>
          <p:nvPr/>
        </p:nvPicPr>
        <p:blipFill>
          <a:blip r:embed="rId10">
            <a:extLst>
              <a:ext uri="{96DAC541-7B7A-43D3-8B79-37D633B846F1}">
                <asvg:svgBlip xmlns:asvg="http://schemas.microsoft.com/office/drawing/2016/SVG/main" r:embed="rId11"/>
              </a:ext>
            </a:extLst>
          </a:blip>
          <a:stretch>
            <a:fillRect/>
          </a:stretch>
        </p:blipFill>
        <p:spPr>
          <a:xfrm>
            <a:off x="5120203" y="5242527"/>
            <a:ext cx="551975" cy="569709"/>
          </a:xfrm>
          <a:prstGeom prst="rect">
            <a:avLst/>
          </a:prstGeom>
        </p:spPr>
      </p:pic>
      <p:sp>
        <p:nvSpPr>
          <p:cNvPr id="31" name="TextBox 30">
            <a:extLst>
              <a:ext uri="{FF2B5EF4-FFF2-40B4-BE49-F238E27FC236}">
                <a16:creationId xmlns:a16="http://schemas.microsoft.com/office/drawing/2014/main" id="{D88C13CA-69A7-3F72-3E7F-29A894C7233C}"/>
              </a:ext>
            </a:extLst>
          </p:cNvPr>
          <p:cNvSpPr txBox="1">
            <a:spLocks noGrp="1" noRot="1" noMove="1" noResize="1" noEditPoints="1" noAdjustHandles="1" noChangeArrowheads="1" noChangeShapeType="1"/>
          </p:cNvSpPr>
          <p:nvPr/>
        </p:nvSpPr>
        <p:spPr>
          <a:xfrm>
            <a:off x="3367287" y="4409671"/>
            <a:ext cx="1552043" cy="646331"/>
          </a:xfrm>
          <a:prstGeom prst="rect">
            <a:avLst/>
          </a:prstGeom>
          <a:noFill/>
        </p:spPr>
        <p:txBody>
          <a:bodyPr wrap="square">
            <a:spAutoFit/>
          </a:bodyPr>
          <a:lstStyle/>
          <a:p>
            <a:r>
              <a:rPr lang="en-US" b="1" dirty="0">
                <a:solidFill>
                  <a:schemeClr val="bg1"/>
                </a:solidFill>
              </a:rPr>
              <a:t>What-If Scenario</a:t>
            </a:r>
          </a:p>
        </p:txBody>
      </p:sp>
      <p:pic>
        <p:nvPicPr>
          <p:cNvPr id="33" name="Graphic 32" descr="Tools with solid fill">
            <a:extLst>
              <a:ext uri="{FF2B5EF4-FFF2-40B4-BE49-F238E27FC236}">
                <a16:creationId xmlns:a16="http://schemas.microsoft.com/office/drawing/2014/main" id="{3F4A60BE-2188-0564-525C-442724B65D3F}"/>
              </a:ext>
            </a:extLst>
          </p:cNvPr>
          <p:cNvPicPr>
            <a:picLocks noGrp="1" noRot="1" noChangeAspect="1" noMove="1" noResize="1" noEditPoints="1" noAdjustHandles="1" noChangeArrowheads="1" noChangeShapeType="1" noCrop="1"/>
          </p:cNvPicPr>
          <p:nvPr/>
        </p:nvPicPr>
        <p:blipFill>
          <a:blip r:embed="rId12">
            <a:extLst>
              <a:ext uri="{96DAC541-7B7A-43D3-8B79-37D633B846F1}">
                <asvg:svgBlip xmlns:asvg="http://schemas.microsoft.com/office/drawing/2016/SVG/main" r:embed="rId13"/>
              </a:ext>
            </a:extLst>
          </a:blip>
          <a:stretch>
            <a:fillRect/>
          </a:stretch>
        </p:blipFill>
        <p:spPr>
          <a:xfrm>
            <a:off x="3642023" y="3909613"/>
            <a:ext cx="480919" cy="480919"/>
          </a:xfrm>
          <a:prstGeom prst="rect">
            <a:avLst/>
          </a:prstGeom>
        </p:spPr>
      </p:pic>
      <p:sp>
        <p:nvSpPr>
          <p:cNvPr id="35" name="TextBox 34">
            <a:extLst>
              <a:ext uri="{FF2B5EF4-FFF2-40B4-BE49-F238E27FC236}">
                <a16:creationId xmlns:a16="http://schemas.microsoft.com/office/drawing/2014/main" id="{1DDED21D-C90C-20C5-7641-CDF480D38747}"/>
              </a:ext>
            </a:extLst>
          </p:cNvPr>
          <p:cNvSpPr txBox="1">
            <a:spLocks noGrp="1" noRot="1" noMove="1" noResize="1" noEditPoints="1" noAdjustHandles="1" noChangeArrowheads="1" noChangeShapeType="1"/>
          </p:cNvSpPr>
          <p:nvPr/>
        </p:nvSpPr>
        <p:spPr>
          <a:xfrm>
            <a:off x="3219555" y="2528414"/>
            <a:ext cx="1241610" cy="461665"/>
          </a:xfrm>
          <a:prstGeom prst="rect">
            <a:avLst/>
          </a:prstGeom>
          <a:noFill/>
        </p:spPr>
        <p:txBody>
          <a:bodyPr wrap="square">
            <a:spAutoFit/>
          </a:bodyPr>
          <a:lstStyle/>
          <a:p>
            <a:r>
              <a:rPr lang="en-US" sz="2400" b="1" dirty="0">
                <a:solidFill>
                  <a:srgbClr val="EAEAEA"/>
                </a:solidFill>
              </a:rPr>
              <a:t>Action</a:t>
            </a:r>
          </a:p>
        </p:txBody>
      </p:sp>
      <p:pic>
        <p:nvPicPr>
          <p:cNvPr id="37" name="Graphic 36" descr="Clapper board with solid fill">
            <a:extLst>
              <a:ext uri="{FF2B5EF4-FFF2-40B4-BE49-F238E27FC236}">
                <a16:creationId xmlns:a16="http://schemas.microsoft.com/office/drawing/2014/main" id="{F1F718EA-2402-9C79-B3C1-A9891EF27542}"/>
              </a:ext>
            </a:extLst>
          </p:cNvPr>
          <p:cNvPicPr>
            <a:picLocks noGrp="1" noRot="1" noChangeAspect="1" noMove="1" noResize="1" noEditPoints="1" noAdjustHandles="1" noChangeArrowheads="1" noChangeShapeType="1" noCrop="1"/>
          </p:cNvPicPr>
          <p:nvPr/>
        </p:nvPicPr>
        <p:blipFill>
          <a:blip r:embed="rId14">
            <a:extLst>
              <a:ext uri="{96DAC541-7B7A-43D3-8B79-37D633B846F1}">
                <asvg:svgBlip xmlns:asvg="http://schemas.microsoft.com/office/drawing/2016/SVG/main" r:embed="rId15"/>
              </a:ext>
            </a:extLst>
          </a:blip>
          <a:stretch>
            <a:fillRect/>
          </a:stretch>
        </p:blipFill>
        <p:spPr>
          <a:xfrm>
            <a:off x="3560824" y="2111869"/>
            <a:ext cx="461665" cy="461665"/>
          </a:xfrm>
          <a:prstGeom prst="rect">
            <a:avLst/>
          </a:prstGeom>
        </p:spPr>
      </p:pic>
      <p:sp>
        <p:nvSpPr>
          <p:cNvPr id="49" name="TextBox 48">
            <a:extLst>
              <a:ext uri="{FF2B5EF4-FFF2-40B4-BE49-F238E27FC236}">
                <a16:creationId xmlns:a16="http://schemas.microsoft.com/office/drawing/2014/main" id="{20CEA113-65B4-6B98-DF49-E6D8064CAD98}"/>
              </a:ext>
            </a:extLst>
          </p:cNvPr>
          <p:cNvSpPr txBox="1"/>
          <p:nvPr/>
        </p:nvSpPr>
        <p:spPr>
          <a:xfrm>
            <a:off x="289669" y="888430"/>
            <a:ext cx="2110879" cy="1200329"/>
          </a:xfrm>
          <a:prstGeom prst="rect">
            <a:avLst/>
          </a:prstGeom>
          <a:noFill/>
        </p:spPr>
        <p:txBody>
          <a:bodyPr wrap="square">
            <a:spAutoFit/>
          </a:bodyPr>
          <a:lstStyle/>
          <a:p>
            <a:r>
              <a:rPr lang="en-US" b="1" dirty="0">
                <a:solidFill>
                  <a:schemeClr val="bg1"/>
                </a:solidFill>
              </a:rPr>
              <a:t>1- </a:t>
            </a:r>
            <a:r>
              <a:rPr lang="en-US" dirty="0">
                <a:solidFill>
                  <a:schemeClr val="bg1"/>
                </a:solidFill>
              </a:rPr>
              <a:t> What is the overall financial performance of the project?</a:t>
            </a:r>
          </a:p>
        </p:txBody>
      </p:sp>
      <p:sp>
        <p:nvSpPr>
          <p:cNvPr id="51" name="TextBox 50">
            <a:extLst>
              <a:ext uri="{FF2B5EF4-FFF2-40B4-BE49-F238E27FC236}">
                <a16:creationId xmlns:a16="http://schemas.microsoft.com/office/drawing/2014/main" id="{E3EC910C-92EC-A8BC-AE4D-7D77B891DA8A}"/>
              </a:ext>
            </a:extLst>
          </p:cNvPr>
          <p:cNvSpPr txBox="1"/>
          <p:nvPr/>
        </p:nvSpPr>
        <p:spPr>
          <a:xfrm>
            <a:off x="270858" y="2347544"/>
            <a:ext cx="2743200" cy="923330"/>
          </a:xfrm>
          <a:prstGeom prst="rect">
            <a:avLst/>
          </a:prstGeom>
          <a:noFill/>
        </p:spPr>
        <p:txBody>
          <a:bodyPr wrap="square">
            <a:spAutoFit/>
          </a:bodyPr>
          <a:lstStyle/>
          <a:p>
            <a:r>
              <a:rPr lang="en-US" b="1" dirty="0">
                <a:solidFill>
                  <a:schemeClr val="bg1"/>
                </a:solidFill>
              </a:rPr>
              <a:t>2-</a:t>
            </a:r>
            <a:r>
              <a:rPr lang="en-US" dirty="0">
                <a:solidFill>
                  <a:schemeClr val="bg1"/>
                </a:solidFill>
              </a:rPr>
              <a:t> Is performance consistent across categories and time?</a:t>
            </a:r>
          </a:p>
        </p:txBody>
      </p:sp>
      <p:sp>
        <p:nvSpPr>
          <p:cNvPr id="53" name="TextBox 52">
            <a:extLst>
              <a:ext uri="{FF2B5EF4-FFF2-40B4-BE49-F238E27FC236}">
                <a16:creationId xmlns:a16="http://schemas.microsoft.com/office/drawing/2014/main" id="{2887FF6C-E1D0-0191-D384-019C2451BCC5}"/>
              </a:ext>
            </a:extLst>
          </p:cNvPr>
          <p:cNvSpPr txBox="1"/>
          <p:nvPr/>
        </p:nvSpPr>
        <p:spPr>
          <a:xfrm>
            <a:off x="289669" y="3527812"/>
            <a:ext cx="2233180" cy="923330"/>
          </a:xfrm>
          <a:prstGeom prst="rect">
            <a:avLst/>
          </a:prstGeom>
          <a:noFill/>
        </p:spPr>
        <p:txBody>
          <a:bodyPr wrap="square">
            <a:spAutoFit/>
          </a:bodyPr>
          <a:lstStyle/>
          <a:p>
            <a:r>
              <a:rPr lang="en-US" b="1" dirty="0">
                <a:solidFill>
                  <a:schemeClr val="bg1"/>
                </a:solidFill>
              </a:rPr>
              <a:t>3-</a:t>
            </a:r>
            <a:r>
              <a:rPr lang="en-US" dirty="0">
                <a:solidFill>
                  <a:schemeClr val="bg1"/>
                </a:solidFill>
              </a:rPr>
              <a:t> Why doesn’t strong revenue translate into profit?</a:t>
            </a:r>
          </a:p>
        </p:txBody>
      </p:sp>
      <p:sp>
        <p:nvSpPr>
          <p:cNvPr id="55" name="TextBox 54">
            <a:extLst>
              <a:ext uri="{FF2B5EF4-FFF2-40B4-BE49-F238E27FC236}">
                <a16:creationId xmlns:a16="http://schemas.microsoft.com/office/drawing/2014/main" id="{8F68D00F-387A-860D-4E2B-482368BC5318}"/>
              </a:ext>
            </a:extLst>
          </p:cNvPr>
          <p:cNvSpPr txBox="1"/>
          <p:nvPr/>
        </p:nvSpPr>
        <p:spPr>
          <a:xfrm>
            <a:off x="242538" y="4664105"/>
            <a:ext cx="2885825" cy="646331"/>
          </a:xfrm>
          <a:prstGeom prst="rect">
            <a:avLst/>
          </a:prstGeom>
          <a:noFill/>
        </p:spPr>
        <p:txBody>
          <a:bodyPr wrap="square">
            <a:spAutoFit/>
          </a:bodyPr>
          <a:lstStyle/>
          <a:p>
            <a:r>
              <a:rPr lang="en-US" b="1" dirty="0">
                <a:solidFill>
                  <a:schemeClr val="bg1"/>
                </a:solidFill>
              </a:rPr>
              <a:t>4- </a:t>
            </a:r>
            <a:r>
              <a:rPr lang="en-US" dirty="0">
                <a:solidFill>
                  <a:schemeClr val="bg1"/>
                </a:solidFill>
              </a:rPr>
              <a:t>Where exactly are the losses concentrated?</a:t>
            </a:r>
          </a:p>
        </p:txBody>
      </p:sp>
      <p:sp>
        <p:nvSpPr>
          <p:cNvPr id="57" name="TextBox 56">
            <a:extLst>
              <a:ext uri="{FF2B5EF4-FFF2-40B4-BE49-F238E27FC236}">
                <a16:creationId xmlns:a16="http://schemas.microsoft.com/office/drawing/2014/main" id="{3504B5B4-AEDE-E41D-D3D6-CDE62ECE16B3}"/>
              </a:ext>
            </a:extLst>
          </p:cNvPr>
          <p:cNvSpPr txBox="1"/>
          <p:nvPr/>
        </p:nvSpPr>
        <p:spPr>
          <a:xfrm>
            <a:off x="9785801" y="935556"/>
            <a:ext cx="2355743" cy="923330"/>
          </a:xfrm>
          <a:prstGeom prst="rect">
            <a:avLst/>
          </a:prstGeom>
          <a:noFill/>
        </p:spPr>
        <p:txBody>
          <a:bodyPr wrap="square">
            <a:spAutoFit/>
          </a:bodyPr>
          <a:lstStyle/>
          <a:p>
            <a:r>
              <a:rPr lang="en-US" b="1" dirty="0">
                <a:solidFill>
                  <a:schemeClr val="bg1"/>
                </a:solidFill>
              </a:rPr>
              <a:t>5-</a:t>
            </a:r>
            <a:r>
              <a:rPr lang="en-US" dirty="0"/>
              <a:t> </a:t>
            </a:r>
            <a:r>
              <a:rPr lang="en-US" dirty="0">
                <a:solidFill>
                  <a:schemeClr val="bg1"/>
                </a:solidFill>
              </a:rPr>
              <a:t>Which high-selling products are actually unprofitable?</a:t>
            </a:r>
          </a:p>
        </p:txBody>
      </p:sp>
      <p:sp>
        <p:nvSpPr>
          <p:cNvPr id="59" name="TextBox 58">
            <a:extLst>
              <a:ext uri="{FF2B5EF4-FFF2-40B4-BE49-F238E27FC236}">
                <a16:creationId xmlns:a16="http://schemas.microsoft.com/office/drawing/2014/main" id="{A9FC77A9-B9F5-9919-09EC-7B5A1DF5E390}"/>
              </a:ext>
            </a:extLst>
          </p:cNvPr>
          <p:cNvSpPr txBox="1"/>
          <p:nvPr/>
        </p:nvSpPr>
        <p:spPr>
          <a:xfrm>
            <a:off x="9809309" y="2135885"/>
            <a:ext cx="2332235" cy="923330"/>
          </a:xfrm>
          <a:prstGeom prst="rect">
            <a:avLst/>
          </a:prstGeom>
          <a:noFill/>
        </p:spPr>
        <p:txBody>
          <a:bodyPr wrap="square">
            <a:spAutoFit/>
          </a:bodyPr>
          <a:lstStyle/>
          <a:p>
            <a:r>
              <a:rPr lang="en-US" b="1" dirty="0">
                <a:solidFill>
                  <a:schemeClr val="bg1"/>
                </a:solidFill>
              </a:rPr>
              <a:t>6- </a:t>
            </a:r>
            <a:r>
              <a:rPr lang="en-US" dirty="0">
                <a:solidFill>
                  <a:schemeClr val="bg1"/>
                </a:solidFill>
              </a:rPr>
              <a:t>Can pricing adjustments recover profitability?</a:t>
            </a:r>
          </a:p>
        </p:txBody>
      </p:sp>
      <p:sp>
        <p:nvSpPr>
          <p:cNvPr id="61" name="TextBox 60">
            <a:extLst>
              <a:ext uri="{FF2B5EF4-FFF2-40B4-BE49-F238E27FC236}">
                <a16:creationId xmlns:a16="http://schemas.microsoft.com/office/drawing/2014/main" id="{11AC42B6-85B0-768C-D71B-6FFF81D61B2D}"/>
              </a:ext>
            </a:extLst>
          </p:cNvPr>
          <p:cNvSpPr txBox="1"/>
          <p:nvPr/>
        </p:nvSpPr>
        <p:spPr>
          <a:xfrm>
            <a:off x="9795228" y="3244412"/>
            <a:ext cx="2147992" cy="923330"/>
          </a:xfrm>
          <a:prstGeom prst="rect">
            <a:avLst/>
          </a:prstGeom>
          <a:noFill/>
        </p:spPr>
        <p:txBody>
          <a:bodyPr wrap="square">
            <a:spAutoFit/>
          </a:bodyPr>
          <a:lstStyle/>
          <a:p>
            <a:r>
              <a:rPr lang="en-US" b="1" dirty="0">
                <a:solidFill>
                  <a:schemeClr val="bg1"/>
                </a:solidFill>
              </a:rPr>
              <a:t>7-</a:t>
            </a:r>
            <a:r>
              <a:rPr lang="en-US" dirty="0">
                <a:solidFill>
                  <a:schemeClr val="bg1"/>
                </a:solidFill>
              </a:rPr>
              <a:t>What actions should the business take?</a:t>
            </a:r>
          </a:p>
        </p:txBody>
      </p:sp>
    </p:spTree>
    <p:extLst>
      <p:ext uri="{BB962C8B-B14F-4D97-AF65-F5344CB8AC3E}">
        <p14:creationId xmlns:p14="http://schemas.microsoft.com/office/powerpoint/2010/main" val="170840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par>
                                <p:cTn id="11" presetID="3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fill="hold"/>
                                        <p:tgtEl>
                                          <p:spTgt spid="49"/>
                                        </p:tgtEl>
                                        <p:attrNameLst>
                                          <p:attrName>ppt_x</p:attrName>
                                        </p:attrNameLst>
                                      </p:cBhvr>
                                      <p:tavLst>
                                        <p:tav tm="0">
                                          <p:val>
                                            <p:strVal val="#ppt_x"/>
                                          </p:val>
                                        </p:tav>
                                        <p:tav tm="100000">
                                          <p:val>
                                            <p:strVal val="#ppt_x"/>
                                          </p:val>
                                        </p:tav>
                                      </p:tavLst>
                                    </p:anim>
                                    <p:anim calcmode="lin" valueType="num">
                                      <p:cBhvr additive="base">
                                        <p:cTn id="2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1000" fill="hold"/>
                                        <p:tgtEl>
                                          <p:spTgt spid="15"/>
                                        </p:tgtEl>
                                        <p:attrNameLst>
                                          <p:attrName>ppt_w</p:attrName>
                                        </p:attrNameLst>
                                      </p:cBhvr>
                                      <p:tavLst>
                                        <p:tav tm="0">
                                          <p:val>
                                            <p:fltVal val="0"/>
                                          </p:val>
                                        </p:tav>
                                        <p:tav tm="100000">
                                          <p:val>
                                            <p:strVal val="#ppt_w"/>
                                          </p:val>
                                        </p:tav>
                                      </p:tavLst>
                                    </p:anim>
                                    <p:anim calcmode="lin" valueType="num">
                                      <p:cBhvr>
                                        <p:cTn id="28" dur="1000" fill="hold"/>
                                        <p:tgtEl>
                                          <p:spTgt spid="15"/>
                                        </p:tgtEl>
                                        <p:attrNameLst>
                                          <p:attrName>ppt_h</p:attrName>
                                        </p:attrNameLst>
                                      </p:cBhvr>
                                      <p:tavLst>
                                        <p:tav tm="0">
                                          <p:val>
                                            <p:fltVal val="0"/>
                                          </p:val>
                                        </p:tav>
                                        <p:tav tm="100000">
                                          <p:val>
                                            <p:strVal val="#ppt_h"/>
                                          </p:val>
                                        </p:tav>
                                      </p:tavLst>
                                    </p:anim>
                                    <p:anim calcmode="lin" valueType="num">
                                      <p:cBhvr>
                                        <p:cTn id="29" dur="1000" fill="hold"/>
                                        <p:tgtEl>
                                          <p:spTgt spid="15"/>
                                        </p:tgtEl>
                                        <p:attrNameLst>
                                          <p:attrName>style.rotation</p:attrName>
                                        </p:attrNameLst>
                                      </p:cBhvr>
                                      <p:tavLst>
                                        <p:tav tm="0">
                                          <p:val>
                                            <p:fltVal val="90"/>
                                          </p:val>
                                        </p:tav>
                                        <p:tav tm="100000">
                                          <p:val>
                                            <p:fltVal val="0"/>
                                          </p:val>
                                        </p:tav>
                                      </p:tavLst>
                                    </p:anim>
                                    <p:animEffect transition="in" filter="fade">
                                      <p:cBhvr>
                                        <p:cTn id="30" dur="1000"/>
                                        <p:tgtEl>
                                          <p:spTgt spid="15"/>
                                        </p:tgtEl>
                                      </p:cBhvr>
                                    </p:animEffect>
                                  </p:childTnLst>
                                </p:cTn>
                              </p:par>
                              <p:par>
                                <p:cTn id="31" presetID="3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1000" fill="hold"/>
                                        <p:tgtEl>
                                          <p:spTgt spid="6"/>
                                        </p:tgtEl>
                                        <p:attrNameLst>
                                          <p:attrName>ppt_w</p:attrName>
                                        </p:attrNameLst>
                                      </p:cBhvr>
                                      <p:tavLst>
                                        <p:tav tm="0">
                                          <p:val>
                                            <p:fltVal val="0"/>
                                          </p:val>
                                        </p:tav>
                                        <p:tav tm="100000">
                                          <p:val>
                                            <p:strVal val="#ppt_w"/>
                                          </p:val>
                                        </p:tav>
                                      </p:tavLst>
                                    </p:anim>
                                    <p:anim calcmode="lin" valueType="num">
                                      <p:cBhvr>
                                        <p:cTn id="34" dur="1000" fill="hold"/>
                                        <p:tgtEl>
                                          <p:spTgt spid="6"/>
                                        </p:tgtEl>
                                        <p:attrNameLst>
                                          <p:attrName>ppt_h</p:attrName>
                                        </p:attrNameLst>
                                      </p:cBhvr>
                                      <p:tavLst>
                                        <p:tav tm="0">
                                          <p:val>
                                            <p:fltVal val="0"/>
                                          </p:val>
                                        </p:tav>
                                        <p:tav tm="100000">
                                          <p:val>
                                            <p:strVal val="#ppt_h"/>
                                          </p:val>
                                        </p:tav>
                                      </p:tavLst>
                                    </p:anim>
                                    <p:anim calcmode="lin" valueType="num">
                                      <p:cBhvr>
                                        <p:cTn id="35" dur="1000" fill="hold"/>
                                        <p:tgtEl>
                                          <p:spTgt spid="6"/>
                                        </p:tgtEl>
                                        <p:attrNameLst>
                                          <p:attrName>style.rotation</p:attrName>
                                        </p:attrNameLst>
                                      </p:cBhvr>
                                      <p:tavLst>
                                        <p:tav tm="0">
                                          <p:val>
                                            <p:fltVal val="90"/>
                                          </p:val>
                                        </p:tav>
                                        <p:tav tm="100000">
                                          <p:val>
                                            <p:fltVal val="0"/>
                                          </p:val>
                                        </p:tav>
                                      </p:tavLst>
                                    </p:anim>
                                    <p:animEffect transition="in" filter="fade">
                                      <p:cBhvr>
                                        <p:cTn id="36" dur="10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anim calcmode="lin" valueType="num">
                                      <p:cBhvr additive="base">
                                        <p:cTn id="41" dur="500" fill="hold"/>
                                        <p:tgtEl>
                                          <p:spTgt spid="51"/>
                                        </p:tgtEl>
                                        <p:attrNameLst>
                                          <p:attrName>ppt_x</p:attrName>
                                        </p:attrNameLst>
                                      </p:cBhvr>
                                      <p:tavLst>
                                        <p:tav tm="0">
                                          <p:val>
                                            <p:strVal val="#ppt_x"/>
                                          </p:val>
                                        </p:tav>
                                        <p:tav tm="100000">
                                          <p:val>
                                            <p:strVal val="#ppt_x"/>
                                          </p:val>
                                        </p:tav>
                                      </p:tavLst>
                                    </p:anim>
                                    <p:anim calcmode="lin" valueType="num">
                                      <p:cBhvr additive="base">
                                        <p:cTn id="42"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1000" fill="hold"/>
                                        <p:tgtEl>
                                          <p:spTgt spid="19"/>
                                        </p:tgtEl>
                                        <p:attrNameLst>
                                          <p:attrName>ppt_w</p:attrName>
                                        </p:attrNameLst>
                                      </p:cBhvr>
                                      <p:tavLst>
                                        <p:tav tm="0">
                                          <p:val>
                                            <p:fltVal val="0"/>
                                          </p:val>
                                        </p:tav>
                                        <p:tav tm="100000">
                                          <p:val>
                                            <p:strVal val="#ppt_w"/>
                                          </p:val>
                                        </p:tav>
                                      </p:tavLst>
                                    </p:anim>
                                    <p:anim calcmode="lin" valueType="num">
                                      <p:cBhvr>
                                        <p:cTn id="48" dur="1000" fill="hold"/>
                                        <p:tgtEl>
                                          <p:spTgt spid="19"/>
                                        </p:tgtEl>
                                        <p:attrNameLst>
                                          <p:attrName>ppt_h</p:attrName>
                                        </p:attrNameLst>
                                      </p:cBhvr>
                                      <p:tavLst>
                                        <p:tav tm="0">
                                          <p:val>
                                            <p:fltVal val="0"/>
                                          </p:val>
                                        </p:tav>
                                        <p:tav tm="100000">
                                          <p:val>
                                            <p:strVal val="#ppt_h"/>
                                          </p:val>
                                        </p:tav>
                                      </p:tavLst>
                                    </p:anim>
                                    <p:anim calcmode="lin" valueType="num">
                                      <p:cBhvr>
                                        <p:cTn id="49" dur="1000" fill="hold"/>
                                        <p:tgtEl>
                                          <p:spTgt spid="19"/>
                                        </p:tgtEl>
                                        <p:attrNameLst>
                                          <p:attrName>style.rotation</p:attrName>
                                        </p:attrNameLst>
                                      </p:cBhvr>
                                      <p:tavLst>
                                        <p:tav tm="0">
                                          <p:val>
                                            <p:fltVal val="90"/>
                                          </p:val>
                                        </p:tav>
                                        <p:tav tm="100000">
                                          <p:val>
                                            <p:fltVal val="0"/>
                                          </p:val>
                                        </p:tav>
                                      </p:tavLst>
                                    </p:anim>
                                    <p:animEffect transition="in" filter="fade">
                                      <p:cBhvr>
                                        <p:cTn id="50" dur="1000"/>
                                        <p:tgtEl>
                                          <p:spTgt spid="19"/>
                                        </p:tgtEl>
                                      </p:cBhvr>
                                    </p:animEffect>
                                  </p:childTnLst>
                                </p:cTn>
                              </p:par>
                              <p:par>
                                <p:cTn id="51" presetID="31"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p:cTn id="53" dur="1000" fill="hold"/>
                                        <p:tgtEl>
                                          <p:spTgt spid="16"/>
                                        </p:tgtEl>
                                        <p:attrNameLst>
                                          <p:attrName>ppt_w</p:attrName>
                                        </p:attrNameLst>
                                      </p:cBhvr>
                                      <p:tavLst>
                                        <p:tav tm="0">
                                          <p:val>
                                            <p:fltVal val="0"/>
                                          </p:val>
                                        </p:tav>
                                        <p:tav tm="100000">
                                          <p:val>
                                            <p:strVal val="#ppt_w"/>
                                          </p:val>
                                        </p:tav>
                                      </p:tavLst>
                                    </p:anim>
                                    <p:anim calcmode="lin" valueType="num">
                                      <p:cBhvr>
                                        <p:cTn id="54" dur="1000" fill="hold"/>
                                        <p:tgtEl>
                                          <p:spTgt spid="16"/>
                                        </p:tgtEl>
                                        <p:attrNameLst>
                                          <p:attrName>ppt_h</p:attrName>
                                        </p:attrNameLst>
                                      </p:cBhvr>
                                      <p:tavLst>
                                        <p:tav tm="0">
                                          <p:val>
                                            <p:fltVal val="0"/>
                                          </p:val>
                                        </p:tav>
                                        <p:tav tm="100000">
                                          <p:val>
                                            <p:strVal val="#ppt_h"/>
                                          </p:val>
                                        </p:tav>
                                      </p:tavLst>
                                    </p:anim>
                                    <p:anim calcmode="lin" valueType="num">
                                      <p:cBhvr>
                                        <p:cTn id="55" dur="1000" fill="hold"/>
                                        <p:tgtEl>
                                          <p:spTgt spid="16"/>
                                        </p:tgtEl>
                                        <p:attrNameLst>
                                          <p:attrName>style.rotation</p:attrName>
                                        </p:attrNameLst>
                                      </p:cBhvr>
                                      <p:tavLst>
                                        <p:tav tm="0">
                                          <p:val>
                                            <p:fltVal val="90"/>
                                          </p:val>
                                        </p:tav>
                                        <p:tav tm="100000">
                                          <p:val>
                                            <p:fltVal val="0"/>
                                          </p:val>
                                        </p:tav>
                                      </p:tavLst>
                                    </p:anim>
                                    <p:animEffect transition="in" filter="fade">
                                      <p:cBhvr>
                                        <p:cTn id="56" dur="10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3"/>
                                        </p:tgtEl>
                                        <p:attrNameLst>
                                          <p:attrName>style.visibility</p:attrName>
                                        </p:attrNameLst>
                                      </p:cBhvr>
                                      <p:to>
                                        <p:strVal val="visible"/>
                                      </p:to>
                                    </p:set>
                                    <p:anim calcmode="lin" valueType="num">
                                      <p:cBhvr additive="base">
                                        <p:cTn id="61" dur="500" fill="hold"/>
                                        <p:tgtEl>
                                          <p:spTgt spid="53"/>
                                        </p:tgtEl>
                                        <p:attrNameLst>
                                          <p:attrName>ppt_x</p:attrName>
                                        </p:attrNameLst>
                                      </p:cBhvr>
                                      <p:tavLst>
                                        <p:tav tm="0">
                                          <p:val>
                                            <p:strVal val="#ppt_x"/>
                                          </p:val>
                                        </p:tav>
                                        <p:tav tm="100000">
                                          <p:val>
                                            <p:strVal val="#ppt_x"/>
                                          </p:val>
                                        </p:tav>
                                      </p:tavLst>
                                    </p:anim>
                                    <p:anim calcmode="lin" valueType="num">
                                      <p:cBhvr additive="base">
                                        <p:cTn id="6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p:cTn id="67" dur="1000" fill="hold"/>
                                        <p:tgtEl>
                                          <p:spTgt spid="25"/>
                                        </p:tgtEl>
                                        <p:attrNameLst>
                                          <p:attrName>ppt_w</p:attrName>
                                        </p:attrNameLst>
                                      </p:cBhvr>
                                      <p:tavLst>
                                        <p:tav tm="0">
                                          <p:val>
                                            <p:fltVal val="0"/>
                                          </p:val>
                                        </p:tav>
                                        <p:tav tm="100000">
                                          <p:val>
                                            <p:strVal val="#ppt_w"/>
                                          </p:val>
                                        </p:tav>
                                      </p:tavLst>
                                    </p:anim>
                                    <p:anim calcmode="lin" valueType="num">
                                      <p:cBhvr>
                                        <p:cTn id="68" dur="1000" fill="hold"/>
                                        <p:tgtEl>
                                          <p:spTgt spid="25"/>
                                        </p:tgtEl>
                                        <p:attrNameLst>
                                          <p:attrName>ppt_h</p:attrName>
                                        </p:attrNameLst>
                                      </p:cBhvr>
                                      <p:tavLst>
                                        <p:tav tm="0">
                                          <p:val>
                                            <p:fltVal val="0"/>
                                          </p:val>
                                        </p:tav>
                                        <p:tav tm="100000">
                                          <p:val>
                                            <p:strVal val="#ppt_h"/>
                                          </p:val>
                                        </p:tav>
                                      </p:tavLst>
                                    </p:anim>
                                    <p:anim calcmode="lin" valueType="num">
                                      <p:cBhvr>
                                        <p:cTn id="69" dur="1000" fill="hold"/>
                                        <p:tgtEl>
                                          <p:spTgt spid="25"/>
                                        </p:tgtEl>
                                        <p:attrNameLst>
                                          <p:attrName>style.rotation</p:attrName>
                                        </p:attrNameLst>
                                      </p:cBhvr>
                                      <p:tavLst>
                                        <p:tav tm="0">
                                          <p:val>
                                            <p:fltVal val="90"/>
                                          </p:val>
                                        </p:tav>
                                        <p:tav tm="100000">
                                          <p:val>
                                            <p:fltVal val="0"/>
                                          </p:val>
                                        </p:tav>
                                      </p:tavLst>
                                    </p:anim>
                                    <p:animEffect transition="in" filter="fade">
                                      <p:cBhvr>
                                        <p:cTn id="70" dur="1000"/>
                                        <p:tgtEl>
                                          <p:spTgt spid="25"/>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p:cTn id="73" dur="1000" fill="hold"/>
                                        <p:tgtEl>
                                          <p:spTgt spid="21"/>
                                        </p:tgtEl>
                                        <p:attrNameLst>
                                          <p:attrName>ppt_w</p:attrName>
                                        </p:attrNameLst>
                                      </p:cBhvr>
                                      <p:tavLst>
                                        <p:tav tm="0">
                                          <p:val>
                                            <p:fltVal val="0"/>
                                          </p:val>
                                        </p:tav>
                                        <p:tav tm="100000">
                                          <p:val>
                                            <p:strVal val="#ppt_w"/>
                                          </p:val>
                                        </p:tav>
                                      </p:tavLst>
                                    </p:anim>
                                    <p:anim calcmode="lin" valueType="num">
                                      <p:cBhvr>
                                        <p:cTn id="74" dur="1000" fill="hold"/>
                                        <p:tgtEl>
                                          <p:spTgt spid="21"/>
                                        </p:tgtEl>
                                        <p:attrNameLst>
                                          <p:attrName>ppt_h</p:attrName>
                                        </p:attrNameLst>
                                      </p:cBhvr>
                                      <p:tavLst>
                                        <p:tav tm="0">
                                          <p:val>
                                            <p:fltVal val="0"/>
                                          </p:val>
                                        </p:tav>
                                        <p:tav tm="100000">
                                          <p:val>
                                            <p:strVal val="#ppt_h"/>
                                          </p:val>
                                        </p:tav>
                                      </p:tavLst>
                                    </p:anim>
                                    <p:anim calcmode="lin" valueType="num">
                                      <p:cBhvr>
                                        <p:cTn id="75" dur="1000" fill="hold"/>
                                        <p:tgtEl>
                                          <p:spTgt spid="21"/>
                                        </p:tgtEl>
                                        <p:attrNameLst>
                                          <p:attrName>style.rotation</p:attrName>
                                        </p:attrNameLst>
                                      </p:cBhvr>
                                      <p:tavLst>
                                        <p:tav tm="0">
                                          <p:val>
                                            <p:fltVal val="90"/>
                                          </p:val>
                                        </p:tav>
                                        <p:tav tm="100000">
                                          <p:val>
                                            <p:fltVal val="0"/>
                                          </p:val>
                                        </p:tav>
                                      </p:tavLst>
                                    </p:anim>
                                    <p:animEffect transition="in" filter="fade">
                                      <p:cBhvr>
                                        <p:cTn id="76" dur="1000"/>
                                        <p:tgtEl>
                                          <p:spTgt spid="21"/>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55"/>
                                        </p:tgtEl>
                                        <p:attrNameLst>
                                          <p:attrName>style.visibility</p:attrName>
                                        </p:attrNameLst>
                                      </p:cBhvr>
                                      <p:to>
                                        <p:strVal val="visible"/>
                                      </p:to>
                                    </p:set>
                                    <p:anim calcmode="lin" valueType="num">
                                      <p:cBhvr additive="base">
                                        <p:cTn id="81" dur="500" fill="hold"/>
                                        <p:tgtEl>
                                          <p:spTgt spid="55"/>
                                        </p:tgtEl>
                                        <p:attrNameLst>
                                          <p:attrName>ppt_x</p:attrName>
                                        </p:attrNameLst>
                                      </p:cBhvr>
                                      <p:tavLst>
                                        <p:tav tm="0">
                                          <p:val>
                                            <p:strVal val="#ppt_x"/>
                                          </p:val>
                                        </p:tav>
                                        <p:tav tm="100000">
                                          <p:val>
                                            <p:strVal val="#ppt_x"/>
                                          </p:val>
                                        </p:tav>
                                      </p:tavLst>
                                    </p:anim>
                                    <p:anim calcmode="lin" valueType="num">
                                      <p:cBhvr additive="base">
                                        <p:cTn id="8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nodeType="clickEffect">
                                  <p:stCondLst>
                                    <p:cond delay="0"/>
                                  </p:stCondLst>
                                  <p:childTnLst>
                                    <p:set>
                                      <p:cBhvr>
                                        <p:cTn id="86" dur="1" fill="hold">
                                          <p:stCondLst>
                                            <p:cond delay="0"/>
                                          </p:stCondLst>
                                        </p:cTn>
                                        <p:tgtEl>
                                          <p:spTgt spid="29"/>
                                        </p:tgtEl>
                                        <p:attrNameLst>
                                          <p:attrName>style.visibility</p:attrName>
                                        </p:attrNameLst>
                                      </p:cBhvr>
                                      <p:to>
                                        <p:strVal val="visible"/>
                                      </p:to>
                                    </p:set>
                                    <p:anim calcmode="lin" valueType="num">
                                      <p:cBhvr>
                                        <p:cTn id="87" dur="1000" fill="hold"/>
                                        <p:tgtEl>
                                          <p:spTgt spid="29"/>
                                        </p:tgtEl>
                                        <p:attrNameLst>
                                          <p:attrName>ppt_w</p:attrName>
                                        </p:attrNameLst>
                                      </p:cBhvr>
                                      <p:tavLst>
                                        <p:tav tm="0">
                                          <p:val>
                                            <p:fltVal val="0"/>
                                          </p:val>
                                        </p:tav>
                                        <p:tav tm="100000">
                                          <p:val>
                                            <p:strVal val="#ppt_w"/>
                                          </p:val>
                                        </p:tav>
                                      </p:tavLst>
                                    </p:anim>
                                    <p:anim calcmode="lin" valueType="num">
                                      <p:cBhvr>
                                        <p:cTn id="88" dur="1000" fill="hold"/>
                                        <p:tgtEl>
                                          <p:spTgt spid="29"/>
                                        </p:tgtEl>
                                        <p:attrNameLst>
                                          <p:attrName>ppt_h</p:attrName>
                                        </p:attrNameLst>
                                      </p:cBhvr>
                                      <p:tavLst>
                                        <p:tav tm="0">
                                          <p:val>
                                            <p:fltVal val="0"/>
                                          </p:val>
                                        </p:tav>
                                        <p:tav tm="100000">
                                          <p:val>
                                            <p:strVal val="#ppt_h"/>
                                          </p:val>
                                        </p:tav>
                                      </p:tavLst>
                                    </p:anim>
                                    <p:anim calcmode="lin" valueType="num">
                                      <p:cBhvr>
                                        <p:cTn id="89" dur="1000" fill="hold"/>
                                        <p:tgtEl>
                                          <p:spTgt spid="29"/>
                                        </p:tgtEl>
                                        <p:attrNameLst>
                                          <p:attrName>style.rotation</p:attrName>
                                        </p:attrNameLst>
                                      </p:cBhvr>
                                      <p:tavLst>
                                        <p:tav tm="0">
                                          <p:val>
                                            <p:fltVal val="90"/>
                                          </p:val>
                                        </p:tav>
                                        <p:tav tm="100000">
                                          <p:val>
                                            <p:fltVal val="0"/>
                                          </p:val>
                                        </p:tav>
                                      </p:tavLst>
                                    </p:anim>
                                    <p:animEffect transition="in" filter="fade">
                                      <p:cBhvr>
                                        <p:cTn id="90" dur="1000"/>
                                        <p:tgtEl>
                                          <p:spTgt spid="29"/>
                                        </p:tgtEl>
                                      </p:cBhvr>
                                    </p:animEffect>
                                  </p:childTnLst>
                                </p:cTn>
                              </p:par>
                              <p:par>
                                <p:cTn id="91" presetID="31"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p:cTn id="93" dur="1000" fill="hold"/>
                                        <p:tgtEl>
                                          <p:spTgt spid="27"/>
                                        </p:tgtEl>
                                        <p:attrNameLst>
                                          <p:attrName>ppt_w</p:attrName>
                                        </p:attrNameLst>
                                      </p:cBhvr>
                                      <p:tavLst>
                                        <p:tav tm="0">
                                          <p:val>
                                            <p:fltVal val="0"/>
                                          </p:val>
                                        </p:tav>
                                        <p:tav tm="100000">
                                          <p:val>
                                            <p:strVal val="#ppt_w"/>
                                          </p:val>
                                        </p:tav>
                                      </p:tavLst>
                                    </p:anim>
                                    <p:anim calcmode="lin" valueType="num">
                                      <p:cBhvr>
                                        <p:cTn id="94" dur="1000" fill="hold"/>
                                        <p:tgtEl>
                                          <p:spTgt spid="27"/>
                                        </p:tgtEl>
                                        <p:attrNameLst>
                                          <p:attrName>ppt_h</p:attrName>
                                        </p:attrNameLst>
                                      </p:cBhvr>
                                      <p:tavLst>
                                        <p:tav tm="0">
                                          <p:val>
                                            <p:fltVal val="0"/>
                                          </p:val>
                                        </p:tav>
                                        <p:tav tm="100000">
                                          <p:val>
                                            <p:strVal val="#ppt_h"/>
                                          </p:val>
                                        </p:tav>
                                      </p:tavLst>
                                    </p:anim>
                                    <p:anim calcmode="lin" valueType="num">
                                      <p:cBhvr>
                                        <p:cTn id="95" dur="1000" fill="hold"/>
                                        <p:tgtEl>
                                          <p:spTgt spid="27"/>
                                        </p:tgtEl>
                                        <p:attrNameLst>
                                          <p:attrName>style.rotation</p:attrName>
                                        </p:attrNameLst>
                                      </p:cBhvr>
                                      <p:tavLst>
                                        <p:tav tm="0">
                                          <p:val>
                                            <p:fltVal val="90"/>
                                          </p:val>
                                        </p:tav>
                                        <p:tav tm="100000">
                                          <p:val>
                                            <p:fltVal val="0"/>
                                          </p:val>
                                        </p:tav>
                                      </p:tavLst>
                                    </p:anim>
                                    <p:animEffect transition="in" filter="fade">
                                      <p:cBhvr>
                                        <p:cTn id="96" dur="1000"/>
                                        <p:tgtEl>
                                          <p:spTgt spid="27"/>
                                        </p:tgtEl>
                                      </p:cBhvr>
                                    </p:animEffec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57"/>
                                        </p:tgtEl>
                                        <p:attrNameLst>
                                          <p:attrName>style.visibility</p:attrName>
                                        </p:attrNameLst>
                                      </p:cBhvr>
                                      <p:to>
                                        <p:strVal val="visible"/>
                                      </p:to>
                                    </p:set>
                                    <p:anim calcmode="lin" valueType="num">
                                      <p:cBhvr additive="base">
                                        <p:cTn id="101" dur="500" fill="hold"/>
                                        <p:tgtEl>
                                          <p:spTgt spid="57"/>
                                        </p:tgtEl>
                                        <p:attrNameLst>
                                          <p:attrName>ppt_x</p:attrName>
                                        </p:attrNameLst>
                                      </p:cBhvr>
                                      <p:tavLst>
                                        <p:tav tm="0">
                                          <p:val>
                                            <p:strVal val="#ppt_x"/>
                                          </p:val>
                                        </p:tav>
                                        <p:tav tm="100000">
                                          <p:val>
                                            <p:strVal val="#ppt_x"/>
                                          </p:val>
                                        </p:tav>
                                      </p:tavLst>
                                    </p:anim>
                                    <p:anim calcmode="lin" valueType="num">
                                      <p:cBhvr additive="base">
                                        <p:cTn id="102"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31" presetClass="entr" presetSubtype="0" fill="hold" grpId="0" nodeType="clickEffect">
                                  <p:stCondLst>
                                    <p:cond delay="0"/>
                                  </p:stCondLst>
                                  <p:childTnLst>
                                    <p:set>
                                      <p:cBhvr>
                                        <p:cTn id="106" dur="1" fill="hold">
                                          <p:stCondLst>
                                            <p:cond delay="0"/>
                                          </p:stCondLst>
                                        </p:cTn>
                                        <p:tgtEl>
                                          <p:spTgt spid="31"/>
                                        </p:tgtEl>
                                        <p:attrNameLst>
                                          <p:attrName>style.visibility</p:attrName>
                                        </p:attrNameLst>
                                      </p:cBhvr>
                                      <p:to>
                                        <p:strVal val="visible"/>
                                      </p:to>
                                    </p:set>
                                    <p:anim calcmode="lin" valueType="num">
                                      <p:cBhvr>
                                        <p:cTn id="107" dur="1000" fill="hold"/>
                                        <p:tgtEl>
                                          <p:spTgt spid="31"/>
                                        </p:tgtEl>
                                        <p:attrNameLst>
                                          <p:attrName>ppt_w</p:attrName>
                                        </p:attrNameLst>
                                      </p:cBhvr>
                                      <p:tavLst>
                                        <p:tav tm="0">
                                          <p:val>
                                            <p:fltVal val="0"/>
                                          </p:val>
                                        </p:tav>
                                        <p:tav tm="100000">
                                          <p:val>
                                            <p:strVal val="#ppt_w"/>
                                          </p:val>
                                        </p:tav>
                                      </p:tavLst>
                                    </p:anim>
                                    <p:anim calcmode="lin" valueType="num">
                                      <p:cBhvr>
                                        <p:cTn id="108" dur="1000" fill="hold"/>
                                        <p:tgtEl>
                                          <p:spTgt spid="31"/>
                                        </p:tgtEl>
                                        <p:attrNameLst>
                                          <p:attrName>ppt_h</p:attrName>
                                        </p:attrNameLst>
                                      </p:cBhvr>
                                      <p:tavLst>
                                        <p:tav tm="0">
                                          <p:val>
                                            <p:fltVal val="0"/>
                                          </p:val>
                                        </p:tav>
                                        <p:tav tm="100000">
                                          <p:val>
                                            <p:strVal val="#ppt_h"/>
                                          </p:val>
                                        </p:tav>
                                      </p:tavLst>
                                    </p:anim>
                                    <p:anim calcmode="lin" valueType="num">
                                      <p:cBhvr>
                                        <p:cTn id="109" dur="1000" fill="hold"/>
                                        <p:tgtEl>
                                          <p:spTgt spid="31"/>
                                        </p:tgtEl>
                                        <p:attrNameLst>
                                          <p:attrName>style.rotation</p:attrName>
                                        </p:attrNameLst>
                                      </p:cBhvr>
                                      <p:tavLst>
                                        <p:tav tm="0">
                                          <p:val>
                                            <p:fltVal val="90"/>
                                          </p:val>
                                        </p:tav>
                                        <p:tav tm="100000">
                                          <p:val>
                                            <p:fltVal val="0"/>
                                          </p:val>
                                        </p:tav>
                                      </p:tavLst>
                                    </p:anim>
                                    <p:animEffect transition="in" filter="fade">
                                      <p:cBhvr>
                                        <p:cTn id="110" dur="1000"/>
                                        <p:tgtEl>
                                          <p:spTgt spid="31"/>
                                        </p:tgtEl>
                                      </p:cBhvr>
                                    </p:animEffect>
                                  </p:childTnLst>
                                </p:cTn>
                              </p:par>
                              <p:par>
                                <p:cTn id="111" presetID="31" presetClass="entr" presetSubtype="0" fill="hold" nodeType="withEffect">
                                  <p:stCondLst>
                                    <p:cond delay="0"/>
                                  </p:stCondLst>
                                  <p:childTnLst>
                                    <p:set>
                                      <p:cBhvr>
                                        <p:cTn id="112" dur="1" fill="hold">
                                          <p:stCondLst>
                                            <p:cond delay="0"/>
                                          </p:stCondLst>
                                        </p:cTn>
                                        <p:tgtEl>
                                          <p:spTgt spid="33"/>
                                        </p:tgtEl>
                                        <p:attrNameLst>
                                          <p:attrName>style.visibility</p:attrName>
                                        </p:attrNameLst>
                                      </p:cBhvr>
                                      <p:to>
                                        <p:strVal val="visible"/>
                                      </p:to>
                                    </p:set>
                                    <p:anim calcmode="lin" valueType="num">
                                      <p:cBhvr>
                                        <p:cTn id="113" dur="1000" fill="hold"/>
                                        <p:tgtEl>
                                          <p:spTgt spid="33"/>
                                        </p:tgtEl>
                                        <p:attrNameLst>
                                          <p:attrName>ppt_w</p:attrName>
                                        </p:attrNameLst>
                                      </p:cBhvr>
                                      <p:tavLst>
                                        <p:tav tm="0">
                                          <p:val>
                                            <p:fltVal val="0"/>
                                          </p:val>
                                        </p:tav>
                                        <p:tav tm="100000">
                                          <p:val>
                                            <p:strVal val="#ppt_w"/>
                                          </p:val>
                                        </p:tav>
                                      </p:tavLst>
                                    </p:anim>
                                    <p:anim calcmode="lin" valueType="num">
                                      <p:cBhvr>
                                        <p:cTn id="114" dur="1000" fill="hold"/>
                                        <p:tgtEl>
                                          <p:spTgt spid="33"/>
                                        </p:tgtEl>
                                        <p:attrNameLst>
                                          <p:attrName>ppt_h</p:attrName>
                                        </p:attrNameLst>
                                      </p:cBhvr>
                                      <p:tavLst>
                                        <p:tav tm="0">
                                          <p:val>
                                            <p:fltVal val="0"/>
                                          </p:val>
                                        </p:tav>
                                        <p:tav tm="100000">
                                          <p:val>
                                            <p:strVal val="#ppt_h"/>
                                          </p:val>
                                        </p:tav>
                                      </p:tavLst>
                                    </p:anim>
                                    <p:anim calcmode="lin" valueType="num">
                                      <p:cBhvr>
                                        <p:cTn id="115" dur="1000" fill="hold"/>
                                        <p:tgtEl>
                                          <p:spTgt spid="33"/>
                                        </p:tgtEl>
                                        <p:attrNameLst>
                                          <p:attrName>style.rotation</p:attrName>
                                        </p:attrNameLst>
                                      </p:cBhvr>
                                      <p:tavLst>
                                        <p:tav tm="0">
                                          <p:val>
                                            <p:fltVal val="90"/>
                                          </p:val>
                                        </p:tav>
                                        <p:tav tm="100000">
                                          <p:val>
                                            <p:fltVal val="0"/>
                                          </p:val>
                                        </p:tav>
                                      </p:tavLst>
                                    </p:anim>
                                    <p:animEffect transition="in" filter="fade">
                                      <p:cBhvr>
                                        <p:cTn id="116" dur="1000"/>
                                        <p:tgtEl>
                                          <p:spTgt spid="33"/>
                                        </p:tgtEl>
                                      </p:cBhvr>
                                    </p:animEffect>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59"/>
                                        </p:tgtEl>
                                        <p:attrNameLst>
                                          <p:attrName>style.visibility</p:attrName>
                                        </p:attrNameLst>
                                      </p:cBhvr>
                                      <p:to>
                                        <p:strVal val="visible"/>
                                      </p:to>
                                    </p:set>
                                    <p:anim calcmode="lin" valueType="num">
                                      <p:cBhvr additive="base">
                                        <p:cTn id="121" dur="500" fill="hold"/>
                                        <p:tgtEl>
                                          <p:spTgt spid="59"/>
                                        </p:tgtEl>
                                        <p:attrNameLst>
                                          <p:attrName>ppt_x</p:attrName>
                                        </p:attrNameLst>
                                      </p:cBhvr>
                                      <p:tavLst>
                                        <p:tav tm="0">
                                          <p:val>
                                            <p:strVal val="#ppt_x"/>
                                          </p:val>
                                        </p:tav>
                                        <p:tav tm="100000">
                                          <p:val>
                                            <p:strVal val="#ppt_x"/>
                                          </p:val>
                                        </p:tav>
                                      </p:tavLst>
                                    </p:anim>
                                    <p:anim calcmode="lin" valueType="num">
                                      <p:cBhvr additive="base">
                                        <p:cTn id="12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6" presetClass="entr" presetSubtype="0" fill="hold" nodeType="clickEffect">
                                  <p:stCondLst>
                                    <p:cond delay="0"/>
                                  </p:stCondLst>
                                  <p:childTnLst>
                                    <p:set>
                                      <p:cBhvr>
                                        <p:cTn id="126" dur="1" fill="hold">
                                          <p:stCondLst>
                                            <p:cond delay="0"/>
                                          </p:stCondLst>
                                        </p:cTn>
                                        <p:tgtEl>
                                          <p:spTgt spid="37"/>
                                        </p:tgtEl>
                                        <p:attrNameLst>
                                          <p:attrName>style.visibility</p:attrName>
                                        </p:attrNameLst>
                                      </p:cBhvr>
                                      <p:to>
                                        <p:strVal val="visible"/>
                                      </p:to>
                                    </p:set>
                                    <p:animEffect transition="in" filter="wipe(down)">
                                      <p:cBhvr>
                                        <p:cTn id="127" dur="580">
                                          <p:stCondLst>
                                            <p:cond delay="0"/>
                                          </p:stCondLst>
                                        </p:cTn>
                                        <p:tgtEl>
                                          <p:spTgt spid="37"/>
                                        </p:tgtEl>
                                      </p:cBhvr>
                                    </p:animEffect>
                                    <p:anim calcmode="lin" valueType="num">
                                      <p:cBhvr>
                                        <p:cTn id="128"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129"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130"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131"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132"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133" dur="26">
                                          <p:stCondLst>
                                            <p:cond delay="650"/>
                                          </p:stCondLst>
                                        </p:cTn>
                                        <p:tgtEl>
                                          <p:spTgt spid="37"/>
                                        </p:tgtEl>
                                      </p:cBhvr>
                                      <p:to x="100000" y="60000"/>
                                    </p:animScale>
                                    <p:animScale>
                                      <p:cBhvr>
                                        <p:cTn id="134" dur="166" decel="50000">
                                          <p:stCondLst>
                                            <p:cond delay="676"/>
                                          </p:stCondLst>
                                        </p:cTn>
                                        <p:tgtEl>
                                          <p:spTgt spid="37"/>
                                        </p:tgtEl>
                                      </p:cBhvr>
                                      <p:to x="100000" y="100000"/>
                                    </p:animScale>
                                    <p:animScale>
                                      <p:cBhvr>
                                        <p:cTn id="135" dur="26">
                                          <p:stCondLst>
                                            <p:cond delay="1312"/>
                                          </p:stCondLst>
                                        </p:cTn>
                                        <p:tgtEl>
                                          <p:spTgt spid="37"/>
                                        </p:tgtEl>
                                      </p:cBhvr>
                                      <p:to x="100000" y="80000"/>
                                    </p:animScale>
                                    <p:animScale>
                                      <p:cBhvr>
                                        <p:cTn id="136" dur="166" decel="50000">
                                          <p:stCondLst>
                                            <p:cond delay="1338"/>
                                          </p:stCondLst>
                                        </p:cTn>
                                        <p:tgtEl>
                                          <p:spTgt spid="37"/>
                                        </p:tgtEl>
                                      </p:cBhvr>
                                      <p:to x="100000" y="100000"/>
                                    </p:animScale>
                                    <p:animScale>
                                      <p:cBhvr>
                                        <p:cTn id="137" dur="26">
                                          <p:stCondLst>
                                            <p:cond delay="1642"/>
                                          </p:stCondLst>
                                        </p:cTn>
                                        <p:tgtEl>
                                          <p:spTgt spid="37"/>
                                        </p:tgtEl>
                                      </p:cBhvr>
                                      <p:to x="100000" y="90000"/>
                                    </p:animScale>
                                    <p:animScale>
                                      <p:cBhvr>
                                        <p:cTn id="138" dur="166" decel="50000">
                                          <p:stCondLst>
                                            <p:cond delay="1668"/>
                                          </p:stCondLst>
                                        </p:cTn>
                                        <p:tgtEl>
                                          <p:spTgt spid="37"/>
                                        </p:tgtEl>
                                      </p:cBhvr>
                                      <p:to x="100000" y="100000"/>
                                    </p:animScale>
                                    <p:animScale>
                                      <p:cBhvr>
                                        <p:cTn id="139" dur="26">
                                          <p:stCondLst>
                                            <p:cond delay="1808"/>
                                          </p:stCondLst>
                                        </p:cTn>
                                        <p:tgtEl>
                                          <p:spTgt spid="37"/>
                                        </p:tgtEl>
                                      </p:cBhvr>
                                      <p:to x="100000" y="95000"/>
                                    </p:animScale>
                                    <p:animScale>
                                      <p:cBhvr>
                                        <p:cTn id="140" dur="166" decel="50000">
                                          <p:stCondLst>
                                            <p:cond delay="1834"/>
                                          </p:stCondLst>
                                        </p:cTn>
                                        <p:tgtEl>
                                          <p:spTgt spid="37"/>
                                        </p:tgtEl>
                                      </p:cBhvr>
                                      <p:to x="100000" y="100000"/>
                                    </p:animScale>
                                  </p:childTnLst>
                                </p:cTn>
                              </p:par>
                              <p:par>
                                <p:cTn id="141" presetID="26" presetClass="entr" presetSubtype="0" fill="hold" grpId="0" nodeType="withEffect">
                                  <p:stCondLst>
                                    <p:cond delay="0"/>
                                  </p:stCondLst>
                                  <p:childTnLst>
                                    <p:set>
                                      <p:cBhvr>
                                        <p:cTn id="142" dur="1" fill="hold">
                                          <p:stCondLst>
                                            <p:cond delay="0"/>
                                          </p:stCondLst>
                                        </p:cTn>
                                        <p:tgtEl>
                                          <p:spTgt spid="35"/>
                                        </p:tgtEl>
                                        <p:attrNameLst>
                                          <p:attrName>style.visibility</p:attrName>
                                        </p:attrNameLst>
                                      </p:cBhvr>
                                      <p:to>
                                        <p:strVal val="visible"/>
                                      </p:to>
                                    </p:set>
                                    <p:animEffect transition="in" filter="wipe(down)">
                                      <p:cBhvr>
                                        <p:cTn id="143" dur="580">
                                          <p:stCondLst>
                                            <p:cond delay="0"/>
                                          </p:stCondLst>
                                        </p:cTn>
                                        <p:tgtEl>
                                          <p:spTgt spid="35"/>
                                        </p:tgtEl>
                                      </p:cBhvr>
                                    </p:animEffect>
                                    <p:anim calcmode="lin" valueType="num">
                                      <p:cBhvr>
                                        <p:cTn id="144"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145"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146"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147"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148"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149" dur="26">
                                          <p:stCondLst>
                                            <p:cond delay="650"/>
                                          </p:stCondLst>
                                        </p:cTn>
                                        <p:tgtEl>
                                          <p:spTgt spid="35"/>
                                        </p:tgtEl>
                                      </p:cBhvr>
                                      <p:to x="100000" y="60000"/>
                                    </p:animScale>
                                    <p:animScale>
                                      <p:cBhvr>
                                        <p:cTn id="150" dur="166" decel="50000">
                                          <p:stCondLst>
                                            <p:cond delay="676"/>
                                          </p:stCondLst>
                                        </p:cTn>
                                        <p:tgtEl>
                                          <p:spTgt spid="35"/>
                                        </p:tgtEl>
                                      </p:cBhvr>
                                      <p:to x="100000" y="100000"/>
                                    </p:animScale>
                                    <p:animScale>
                                      <p:cBhvr>
                                        <p:cTn id="151" dur="26">
                                          <p:stCondLst>
                                            <p:cond delay="1312"/>
                                          </p:stCondLst>
                                        </p:cTn>
                                        <p:tgtEl>
                                          <p:spTgt spid="35"/>
                                        </p:tgtEl>
                                      </p:cBhvr>
                                      <p:to x="100000" y="80000"/>
                                    </p:animScale>
                                    <p:animScale>
                                      <p:cBhvr>
                                        <p:cTn id="152" dur="166" decel="50000">
                                          <p:stCondLst>
                                            <p:cond delay="1338"/>
                                          </p:stCondLst>
                                        </p:cTn>
                                        <p:tgtEl>
                                          <p:spTgt spid="35"/>
                                        </p:tgtEl>
                                      </p:cBhvr>
                                      <p:to x="100000" y="100000"/>
                                    </p:animScale>
                                    <p:animScale>
                                      <p:cBhvr>
                                        <p:cTn id="153" dur="26">
                                          <p:stCondLst>
                                            <p:cond delay="1642"/>
                                          </p:stCondLst>
                                        </p:cTn>
                                        <p:tgtEl>
                                          <p:spTgt spid="35"/>
                                        </p:tgtEl>
                                      </p:cBhvr>
                                      <p:to x="100000" y="90000"/>
                                    </p:animScale>
                                    <p:animScale>
                                      <p:cBhvr>
                                        <p:cTn id="154" dur="166" decel="50000">
                                          <p:stCondLst>
                                            <p:cond delay="1668"/>
                                          </p:stCondLst>
                                        </p:cTn>
                                        <p:tgtEl>
                                          <p:spTgt spid="35"/>
                                        </p:tgtEl>
                                      </p:cBhvr>
                                      <p:to x="100000" y="100000"/>
                                    </p:animScale>
                                    <p:animScale>
                                      <p:cBhvr>
                                        <p:cTn id="155" dur="26">
                                          <p:stCondLst>
                                            <p:cond delay="1808"/>
                                          </p:stCondLst>
                                        </p:cTn>
                                        <p:tgtEl>
                                          <p:spTgt spid="35"/>
                                        </p:tgtEl>
                                      </p:cBhvr>
                                      <p:to x="100000" y="95000"/>
                                    </p:animScale>
                                    <p:animScale>
                                      <p:cBhvr>
                                        <p:cTn id="156" dur="166" decel="50000">
                                          <p:stCondLst>
                                            <p:cond delay="1834"/>
                                          </p:stCondLst>
                                        </p:cTn>
                                        <p:tgtEl>
                                          <p:spTgt spid="35"/>
                                        </p:tgtEl>
                                      </p:cBhvr>
                                      <p:to x="100000" y="100000"/>
                                    </p:animScale>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61"/>
                                        </p:tgtEl>
                                        <p:attrNameLst>
                                          <p:attrName>style.visibility</p:attrName>
                                        </p:attrNameLst>
                                      </p:cBhvr>
                                      <p:to>
                                        <p:strVal val="visible"/>
                                      </p:to>
                                    </p:set>
                                    <p:anim calcmode="lin" valueType="num">
                                      <p:cBhvr additive="base">
                                        <p:cTn id="161" dur="500" fill="hold"/>
                                        <p:tgtEl>
                                          <p:spTgt spid="61"/>
                                        </p:tgtEl>
                                        <p:attrNameLst>
                                          <p:attrName>ppt_x</p:attrName>
                                        </p:attrNameLst>
                                      </p:cBhvr>
                                      <p:tavLst>
                                        <p:tav tm="0">
                                          <p:val>
                                            <p:strVal val="#ppt_x"/>
                                          </p:val>
                                        </p:tav>
                                        <p:tav tm="100000">
                                          <p:val>
                                            <p:strVal val="#ppt_x"/>
                                          </p:val>
                                        </p:tav>
                                      </p:tavLst>
                                    </p:anim>
                                    <p:anim calcmode="lin" valueType="num">
                                      <p:cBhvr additive="base">
                                        <p:cTn id="162"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1" grpId="0"/>
      <p:bldP spid="27" grpId="0"/>
      <p:bldP spid="31" grpId="0"/>
      <p:bldP spid="35" grpId="0"/>
      <p:bldP spid="49" grpId="0"/>
      <p:bldP spid="51" grpId="0"/>
      <p:bldP spid="53" grpId="0"/>
      <p:bldP spid="55" grpId="0"/>
      <p:bldP spid="57" grpId="0"/>
      <p:bldP spid="59" grpId="0"/>
      <p:bldP spid="6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A0AB162-8373-3942-8EBC-84926A870F10}"/>
              </a:ext>
            </a:extLst>
          </p:cNvPr>
          <p:cNvSpPr>
            <a:spLocks noGrp="1"/>
          </p:cNvSpPr>
          <p:nvPr>
            <p:ph type="title"/>
          </p:nvPr>
        </p:nvSpPr>
        <p:spPr>
          <a:xfrm>
            <a:off x="3825587" y="2312570"/>
            <a:ext cx="3969905" cy="1275052"/>
          </a:xfrm>
        </p:spPr>
        <p:txBody>
          <a:bodyPr>
            <a:normAutofit fontScale="90000"/>
          </a:bodyPr>
          <a:lstStyle/>
          <a:p>
            <a:r>
              <a:rPr lang="ar-SA" sz="5400" b="1" dirty="0">
                <a:solidFill>
                  <a:schemeClr val="bg1"/>
                </a:solidFill>
              </a:rPr>
              <a:t> -1</a:t>
            </a:r>
            <a:r>
              <a:rPr lang="en-US" sz="5400" b="1" dirty="0">
                <a:solidFill>
                  <a:schemeClr val="bg1"/>
                </a:solidFill>
              </a:rPr>
              <a:t>OVERVIEW</a:t>
            </a:r>
          </a:p>
        </p:txBody>
      </p:sp>
      <p:pic>
        <p:nvPicPr>
          <p:cNvPr id="5" name="Graphic 4" descr="Gauge with solid fill">
            <a:extLst>
              <a:ext uri="{FF2B5EF4-FFF2-40B4-BE49-F238E27FC236}">
                <a16:creationId xmlns:a16="http://schemas.microsoft.com/office/drawing/2014/main" id="{1C76118D-2494-4D9F-B088-B6204AF96B90}"/>
              </a:ext>
            </a:extLst>
          </p:cNvPr>
          <p:cNvPicPr/>
          <p:nvPr/>
        </p:nvPicPr>
        <p:blipFill>
          <a:blip r:embed="rId2">
            <a:extLst>
              <a:ext uri="{96DAC541-7B7A-43D3-8B79-37D633B846F1}">
                <asvg:svgBlip xmlns:asvg="http://schemas.microsoft.com/office/drawing/2016/SVG/main" r:embed="rId3"/>
              </a:ext>
            </a:extLst>
          </a:blip>
          <a:stretch>
            <a:fillRect/>
          </a:stretch>
        </p:blipFill>
        <p:spPr>
          <a:xfrm>
            <a:off x="7811921" y="2473507"/>
            <a:ext cx="944151" cy="860819"/>
          </a:xfrm>
          <a:prstGeom prst="rect">
            <a:avLst/>
          </a:prstGeom>
        </p:spPr>
      </p:pic>
      <p:sp>
        <p:nvSpPr>
          <p:cNvPr id="7" name="TextBox 6">
            <a:extLst>
              <a:ext uri="{FF2B5EF4-FFF2-40B4-BE49-F238E27FC236}">
                <a16:creationId xmlns:a16="http://schemas.microsoft.com/office/drawing/2014/main" id="{2B772F11-F396-9A0C-3733-37CB9542CCF5}"/>
              </a:ext>
            </a:extLst>
          </p:cNvPr>
          <p:cNvSpPr txBox="1"/>
          <p:nvPr/>
        </p:nvSpPr>
        <p:spPr>
          <a:xfrm>
            <a:off x="1597889" y="4096388"/>
            <a:ext cx="9716655" cy="523220"/>
          </a:xfrm>
          <a:prstGeom prst="rect">
            <a:avLst/>
          </a:prstGeom>
          <a:noFill/>
        </p:spPr>
        <p:txBody>
          <a:bodyPr wrap="square">
            <a:spAutoFit/>
          </a:bodyPr>
          <a:lstStyle/>
          <a:p>
            <a:r>
              <a:rPr lang="en-US" sz="2800" dirty="0">
                <a:solidFill>
                  <a:schemeClr val="bg1"/>
                </a:solidFill>
              </a:rPr>
              <a:t> What is the overall financial performance of the project?</a:t>
            </a:r>
          </a:p>
        </p:txBody>
      </p:sp>
    </p:spTree>
    <p:extLst>
      <p:ext uri="{BB962C8B-B14F-4D97-AF65-F5344CB8AC3E}">
        <p14:creationId xmlns:p14="http://schemas.microsoft.com/office/powerpoint/2010/main" val="2736379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80">
                                          <p:stCondLst>
                                            <p:cond delay="0"/>
                                          </p:stCondLst>
                                        </p:cTn>
                                        <p:tgtEl>
                                          <p:spTgt spid="5"/>
                                        </p:tgtEl>
                                      </p:cBhvr>
                                    </p:animEffect>
                                    <p:anim calcmode="lin" valueType="num">
                                      <p:cBhvr>
                                        <p:cTn id="1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1" dur="26">
                                          <p:stCondLst>
                                            <p:cond delay="650"/>
                                          </p:stCondLst>
                                        </p:cTn>
                                        <p:tgtEl>
                                          <p:spTgt spid="5"/>
                                        </p:tgtEl>
                                      </p:cBhvr>
                                      <p:to x="100000" y="60000"/>
                                    </p:animScale>
                                    <p:animScale>
                                      <p:cBhvr>
                                        <p:cTn id="22" dur="166" decel="50000">
                                          <p:stCondLst>
                                            <p:cond delay="676"/>
                                          </p:stCondLst>
                                        </p:cTn>
                                        <p:tgtEl>
                                          <p:spTgt spid="5"/>
                                        </p:tgtEl>
                                      </p:cBhvr>
                                      <p:to x="100000" y="100000"/>
                                    </p:animScale>
                                    <p:animScale>
                                      <p:cBhvr>
                                        <p:cTn id="23" dur="26">
                                          <p:stCondLst>
                                            <p:cond delay="1312"/>
                                          </p:stCondLst>
                                        </p:cTn>
                                        <p:tgtEl>
                                          <p:spTgt spid="5"/>
                                        </p:tgtEl>
                                      </p:cBhvr>
                                      <p:to x="100000" y="80000"/>
                                    </p:animScale>
                                    <p:animScale>
                                      <p:cBhvr>
                                        <p:cTn id="24" dur="166" decel="50000">
                                          <p:stCondLst>
                                            <p:cond delay="1338"/>
                                          </p:stCondLst>
                                        </p:cTn>
                                        <p:tgtEl>
                                          <p:spTgt spid="5"/>
                                        </p:tgtEl>
                                      </p:cBhvr>
                                      <p:to x="100000" y="100000"/>
                                    </p:animScale>
                                    <p:animScale>
                                      <p:cBhvr>
                                        <p:cTn id="25" dur="26">
                                          <p:stCondLst>
                                            <p:cond delay="1642"/>
                                          </p:stCondLst>
                                        </p:cTn>
                                        <p:tgtEl>
                                          <p:spTgt spid="5"/>
                                        </p:tgtEl>
                                      </p:cBhvr>
                                      <p:to x="100000" y="90000"/>
                                    </p:animScale>
                                    <p:animScale>
                                      <p:cBhvr>
                                        <p:cTn id="26" dur="166" decel="50000">
                                          <p:stCondLst>
                                            <p:cond delay="1668"/>
                                          </p:stCondLst>
                                        </p:cTn>
                                        <p:tgtEl>
                                          <p:spTgt spid="5"/>
                                        </p:tgtEl>
                                      </p:cBhvr>
                                      <p:to x="100000" y="100000"/>
                                    </p:animScale>
                                    <p:animScale>
                                      <p:cBhvr>
                                        <p:cTn id="27" dur="26">
                                          <p:stCondLst>
                                            <p:cond delay="1808"/>
                                          </p:stCondLst>
                                        </p:cTn>
                                        <p:tgtEl>
                                          <p:spTgt spid="5"/>
                                        </p:tgtEl>
                                      </p:cBhvr>
                                      <p:to x="100000" y="95000"/>
                                    </p:animScale>
                                    <p:animScale>
                                      <p:cBhvr>
                                        <p:cTn id="28" dur="166" decel="50000">
                                          <p:stCondLst>
                                            <p:cond delay="1834"/>
                                          </p:stCondLst>
                                        </p:cTn>
                                        <p:tgtEl>
                                          <p:spTgt spid="5"/>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C1E882A-6F02-0B4D-D0E0-C191C7B2A512}"/>
              </a:ext>
            </a:extLst>
          </p:cNvPr>
          <p:cNvSpPr/>
          <p:nvPr/>
        </p:nvSpPr>
        <p:spPr>
          <a:xfrm>
            <a:off x="9458036" y="916710"/>
            <a:ext cx="2318328" cy="969818"/>
          </a:xfrm>
          <a:prstGeom prst="roundRect">
            <a:avLst/>
          </a:prstGeom>
          <a:solidFill>
            <a:srgbClr val="2E3E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3.51M</a:t>
            </a:r>
          </a:p>
          <a:p>
            <a:pPr algn="ctr"/>
            <a:r>
              <a:rPr lang="en-US" dirty="0"/>
              <a:t>Total Revenue</a:t>
            </a:r>
          </a:p>
        </p:txBody>
      </p:sp>
      <p:sp>
        <p:nvSpPr>
          <p:cNvPr id="5" name="Rectangle: Rounded Corners 4">
            <a:extLst>
              <a:ext uri="{FF2B5EF4-FFF2-40B4-BE49-F238E27FC236}">
                <a16:creationId xmlns:a16="http://schemas.microsoft.com/office/drawing/2014/main" id="{5703C2C2-1596-4671-7C96-55C304A1524B}"/>
              </a:ext>
            </a:extLst>
          </p:cNvPr>
          <p:cNvSpPr/>
          <p:nvPr/>
        </p:nvSpPr>
        <p:spPr>
          <a:xfrm>
            <a:off x="9458036" y="4875648"/>
            <a:ext cx="2318328" cy="969818"/>
          </a:xfrm>
          <a:prstGeom prst="roundRect">
            <a:avLst/>
          </a:prstGeom>
          <a:solidFill>
            <a:srgbClr val="2E3E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45.81K</a:t>
            </a:r>
          </a:p>
          <a:p>
            <a:pPr algn="ctr"/>
            <a:r>
              <a:rPr lang="en-US" sz="2000" dirty="0"/>
              <a:t>Total Profit </a:t>
            </a:r>
          </a:p>
        </p:txBody>
      </p:sp>
      <p:sp>
        <p:nvSpPr>
          <p:cNvPr id="6" name="Rectangle: Rounded Corners 5">
            <a:extLst>
              <a:ext uri="{FF2B5EF4-FFF2-40B4-BE49-F238E27FC236}">
                <a16:creationId xmlns:a16="http://schemas.microsoft.com/office/drawing/2014/main" id="{03DC75E5-9ABA-6F92-62F3-6EDEAB6EF60D}"/>
              </a:ext>
            </a:extLst>
          </p:cNvPr>
          <p:cNvSpPr/>
          <p:nvPr/>
        </p:nvSpPr>
        <p:spPr>
          <a:xfrm>
            <a:off x="9458036" y="3556002"/>
            <a:ext cx="2318328" cy="969818"/>
          </a:xfrm>
          <a:prstGeom prst="roundRect">
            <a:avLst/>
          </a:prstGeom>
          <a:solidFill>
            <a:srgbClr val="2E3E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7K</a:t>
            </a:r>
          </a:p>
          <a:p>
            <a:pPr algn="ctr"/>
            <a:r>
              <a:rPr lang="en-US" dirty="0"/>
              <a:t>Total Quantity</a:t>
            </a:r>
          </a:p>
        </p:txBody>
      </p:sp>
      <p:sp>
        <p:nvSpPr>
          <p:cNvPr id="7" name="Rectangle: Rounded Corners 6">
            <a:extLst>
              <a:ext uri="{FF2B5EF4-FFF2-40B4-BE49-F238E27FC236}">
                <a16:creationId xmlns:a16="http://schemas.microsoft.com/office/drawing/2014/main" id="{D8EA25AC-E6F5-FE5E-E4BC-CAD6A201F35F}"/>
              </a:ext>
            </a:extLst>
          </p:cNvPr>
          <p:cNvSpPr/>
          <p:nvPr/>
        </p:nvSpPr>
        <p:spPr>
          <a:xfrm>
            <a:off x="9458036" y="2236356"/>
            <a:ext cx="2318328" cy="969818"/>
          </a:xfrm>
          <a:prstGeom prst="roundRect">
            <a:avLst/>
          </a:prstGeom>
          <a:solidFill>
            <a:srgbClr val="2E3E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3.46M</a:t>
            </a:r>
          </a:p>
          <a:p>
            <a:pPr algn="ctr"/>
            <a:r>
              <a:rPr lang="en-US" dirty="0"/>
              <a:t>Total Cost</a:t>
            </a:r>
          </a:p>
        </p:txBody>
      </p:sp>
      <p:sp>
        <p:nvSpPr>
          <p:cNvPr id="9" name="TextBox 8">
            <a:extLst>
              <a:ext uri="{FF2B5EF4-FFF2-40B4-BE49-F238E27FC236}">
                <a16:creationId xmlns:a16="http://schemas.microsoft.com/office/drawing/2014/main" id="{EE6B2AD2-CE16-940B-F460-CCFD0510889A}"/>
              </a:ext>
            </a:extLst>
          </p:cNvPr>
          <p:cNvSpPr txBox="1"/>
          <p:nvPr/>
        </p:nvSpPr>
        <p:spPr>
          <a:xfrm>
            <a:off x="350981" y="393490"/>
            <a:ext cx="6096000" cy="523220"/>
          </a:xfrm>
          <a:prstGeom prst="rect">
            <a:avLst/>
          </a:prstGeom>
          <a:noFill/>
        </p:spPr>
        <p:txBody>
          <a:bodyPr wrap="square">
            <a:spAutoFit/>
          </a:bodyPr>
          <a:lstStyle/>
          <a:p>
            <a:r>
              <a:rPr lang="en-US" sz="2800" b="1" dirty="0">
                <a:solidFill>
                  <a:schemeClr val="bg1"/>
                </a:solidFill>
              </a:rPr>
              <a:t>General business situation</a:t>
            </a:r>
          </a:p>
        </p:txBody>
      </p:sp>
      <p:sp>
        <p:nvSpPr>
          <p:cNvPr id="10" name="Minus Sign 9">
            <a:extLst>
              <a:ext uri="{FF2B5EF4-FFF2-40B4-BE49-F238E27FC236}">
                <a16:creationId xmlns:a16="http://schemas.microsoft.com/office/drawing/2014/main" id="{42B2C1E9-32E5-7808-AB1A-96955F33A066}"/>
              </a:ext>
            </a:extLst>
          </p:cNvPr>
          <p:cNvSpPr/>
          <p:nvPr/>
        </p:nvSpPr>
        <p:spPr>
          <a:xfrm rot="5400000">
            <a:off x="-83811" y="485853"/>
            <a:ext cx="660402" cy="338493"/>
          </a:xfrm>
          <a:prstGeom prst="mathMinus">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271753E-5EC0-C521-F9D8-5D9A7CA5D477}"/>
              </a:ext>
            </a:extLst>
          </p:cNvPr>
          <p:cNvSpPr txBox="1"/>
          <p:nvPr/>
        </p:nvSpPr>
        <p:spPr>
          <a:xfrm>
            <a:off x="311045" y="2156799"/>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The overall result is positive, but it is followed by a rise in cost or a near-equalization, which is a cause for concern.</a:t>
            </a:r>
          </a:p>
        </p:txBody>
      </p:sp>
      <p:sp>
        <p:nvSpPr>
          <p:cNvPr id="14" name="TextBox 13">
            <a:extLst>
              <a:ext uri="{FF2B5EF4-FFF2-40B4-BE49-F238E27FC236}">
                <a16:creationId xmlns:a16="http://schemas.microsoft.com/office/drawing/2014/main" id="{9C384CB0-A369-E1B8-83DA-3CE1D60CED41}"/>
              </a:ext>
            </a:extLst>
          </p:cNvPr>
          <p:cNvSpPr txBox="1"/>
          <p:nvPr/>
        </p:nvSpPr>
        <p:spPr>
          <a:xfrm>
            <a:off x="350981" y="4406902"/>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Large numbers always hide negatives, and that's what we</a:t>
            </a:r>
            <a:r>
              <a:rPr lang="ar-SA" dirty="0">
                <a:solidFill>
                  <a:schemeClr val="bg1"/>
                </a:solidFill>
              </a:rPr>
              <a:t> </a:t>
            </a:r>
            <a:r>
              <a:rPr lang="en-US" dirty="0">
                <a:solidFill>
                  <a:schemeClr val="bg1"/>
                </a:solidFill>
              </a:rPr>
              <a:t>will reveal later.</a:t>
            </a:r>
          </a:p>
        </p:txBody>
      </p:sp>
      <p:sp>
        <p:nvSpPr>
          <p:cNvPr id="16" name="TextBox 15">
            <a:extLst>
              <a:ext uri="{FF2B5EF4-FFF2-40B4-BE49-F238E27FC236}">
                <a16:creationId xmlns:a16="http://schemas.microsoft.com/office/drawing/2014/main" id="{394B59C2-DA02-5968-9FC5-610998FB47A5}"/>
              </a:ext>
            </a:extLst>
          </p:cNvPr>
          <p:cNvSpPr txBox="1"/>
          <p:nvPr/>
        </p:nvSpPr>
        <p:spPr>
          <a:xfrm>
            <a:off x="311045" y="3143351"/>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Given the high sales volume, profits should be more reasonable, and this may indicate a genuine, deep-seated collapse.</a:t>
            </a:r>
          </a:p>
        </p:txBody>
      </p:sp>
    </p:spTree>
    <p:extLst>
      <p:ext uri="{BB962C8B-B14F-4D97-AF65-F5344CB8AC3E}">
        <p14:creationId xmlns:p14="http://schemas.microsoft.com/office/powerpoint/2010/main" val="2394837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7" name="Picture 6" descr="A graph with a line going up&#10;&#10;AI-generated content may be incorrect.">
            <a:extLst>
              <a:ext uri="{FF2B5EF4-FFF2-40B4-BE49-F238E27FC236}">
                <a16:creationId xmlns:a16="http://schemas.microsoft.com/office/drawing/2014/main" id="{189789D2-2D0D-7FCE-332A-FA9E52C75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2235" y="1176337"/>
            <a:ext cx="7174778" cy="4505325"/>
          </a:xfrm>
          <a:prstGeom prst="rect">
            <a:avLst/>
          </a:prstGeom>
        </p:spPr>
      </p:pic>
      <p:sp>
        <p:nvSpPr>
          <p:cNvPr id="10" name="TextBox 9">
            <a:extLst>
              <a:ext uri="{FF2B5EF4-FFF2-40B4-BE49-F238E27FC236}">
                <a16:creationId xmlns:a16="http://schemas.microsoft.com/office/drawing/2014/main" id="{F772C540-5742-795A-94EF-8933D7144D90}"/>
              </a:ext>
            </a:extLst>
          </p:cNvPr>
          <p:cNvSpPr txBox="1"/>
          <p:nvPr/>
        </p:nvSpPr>
        <p:spPr>
          <a:xfrm rot="16200000">
            <a:off x="3773991" y="2702579"/>
            <a:ext cx="1630219" cy="400110"/>
          </a:xfrm>
          <a:prstGeom prst="rect">
            <a:avLst/>
          </a:prstGeom>
          <a:noFill/>
        </p:spPr>
        <p:txBody>
          <a:bodyPr wrap="square">
            <a:spAutoFit/>
          </a:bodyPr>
          <a:lstStyle/>
          <a:p>
            <a:r>
              <a:rPr lang="en-US" sz="2000" dirty="0">
                <a:solidFill>
                  <a:srgbClr val="FFC000"/>
                </a:solidFill>
              </a:rPr>
              <a:t>Total Sales</a:t>
            </a:r>
          </a:p>
        </p:txBody>
      </p:sp>
      <p:sp>
        <p:nvSpPr>
          <p:cNvPr id="12" name="TextBox 11">
            <a:extLst>
              <a:ext uri="{FF2B5EF4-FFF2-40B4-BE49-F238E27FC236}">
                <a16:creationId xmlns:a16="http://schemas.microsoft.com/office/drawing/2014/main" id="{C865FA59-7F80-BF44-E389-71C11E5B56EA}"/>
              </a:ext>
            </a:extLst>
          </p:cNvPr>
          <p:cNvSpPr txBox="1"/>
          <p:nvPr/>
        </p:nvSpPr>
        <p:spPr>
          <a:xfrm>
            <a:off x="7128901" y="455014"/>
            <a:ext cx="3215826" cy="461665"/>
          </a:xfrm>
          <a:prstGeom prst="rect">
            <a:avLst/>
          </a:prstGeom>
          <a:noFill/>
        </p:spPr>
        <p:txBody>
          <a:bodyPr wrap="square">
            <a:spAutoFit/>
          </a:bodyPr>
          <a:lstStyle/>
          <a:p>
            <a:r>
              <a:rPr lang="en-US" sz="2400" b="1" dirty="0">
                <a:solidFill>
                  <a:schemeClr val="bg1"/>
                </a:solidFill>
              </a:rPr>
              <a:t>Sales over the years</a:t>
            </a:r>
          </a:p>
        </p:txBody>
      </p:sp>
      <p:sp>
        <p:nvSpPr>
          <p:cNvPr id="14" name="TextBox 13">
            <a:extLst>
              <a:ext uri="{FF2B5EF4-FFF2-40B4-BE49-F238E27FC236}">
                <a16:creationId xmlns:a16="http://schemas.microsoft.com/office/drawing/2014/main" id="{7B4FCEBB-02DC-C3FF-A477-4298E97EF0ED}"/>
              </a:ext>
            </a:extLst>
          </p:cNvPr>
          <p:cNvSpPr txBox="1"/>
          <p:nvPr/>
        </p:nvSpPr>
        <p:spPr>
          <a:xfrm>
            <a:off x="164987" y="2087525"/>
            <a:ext cx="3121891"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Sales have increased over the past three years</a:t>
            </a:r>
          </a:p>
        </p:txBody>
      </p:sp>
      <p:cxnSp>
        <p:nvCxnSpPr>
          <p:cNvPr id="15" name="Straight Connector 14">
            <a:extLst>
              <a:ext uri="{FF2B5EF4-FFF2-40B4-BE49-F238E27FC236}">
                <a16:creationId xmlns:a16="http://schemas.microsoft.com/office/drawing/2014/main" id="{A1B21105-1A6B-3375-27DC-54CE6793C783}"/>
              </a:ext>
            </a:extLst>
          </p:cNvPr>
          <p:cNvCxnSpPr>
            <a:cxnSpLocks/>
          </p:cNvCxnSpPr>
          <p:nvPr/>
        </p:nvCxnSpPr>
        <p:spPr>
          <a:xfrm>
            <a:off x="0" y="2087525"/>
            <a:ext cx="0" cy="206883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1C072AB-FB4C-48FE-71BA-7D1ED6ED076D}"/>
              </a:ext>
            </a:extLst>
          </p:cNvPr>
          <p:cNvSpPr txBox="1"/>
          <p:nvPr/>
        </p:nvSpPr>
        <p:spPr>
          <a:xfrm>
            <a:off x="164987" y="3041135"/>
            <a:ext cx="3233993"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The peak was in 2018</a:t>
            </a:r>
          </a:p>
        </p:txBody>
      </p:sp>
      <p:sp>
        <p:nvSpPr>
          <p:cNvPr id="22" name="TextBox 21">
            <a:extLst>
              <a:ext uri="{FF2B5EF4-FFF2-40B4-BE49-F238E27FC236}">
                <a16:creationId xmlns:a16="http://schemas.microsoft.com/office/drawing/2014/main" id="{BEA735F8-DE92-D9A9-A4DD-9C755A7DBE95}"/>
              </a:ext>
            </a:extLst>
          </p:cNvPr>
          <p:cNvSpPr txBox="1"/>
          <p:nvPr/>
        </p:nvSpPr>
        <p:spPr>
          <a:xfrm>
            <a:off x="83432" y="3717746"/>
            <a:ext cx="6100618"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We're back to square one in 2020</a:t>
            </a:r>
            <a:r>
              <a:rPr lang="en-US" dirty="0"/>
              <a:t>.</a:t>
            </a:r>
          </a:p>
        </p:txBody>
      </p:sp>
    </p:spTree>
    <p:extLst>
      <p:ext uri="{BB962C8B-B14F-4D97-AF65-F5344CB8AC3E}">
        <p14:creationId xmlns:p14="http://schemas.microsoft.com/office/powerpoint/2010/main" val="934967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5" name="Picture 4" descr="A map of the world with orange and white countries/regions&#10;&#10;AI-generated content may be incorrect.">
            <a:extLst>
              <a:ext uri="{FF2B5EF4-FFF2-40B4-BE49-F238E27FC236}">
                <a16:creationId xmlns:a16="http://schemas.microsoft.com/office/drawing/2014/main" id="{5E47592A-8E92-F21C-953B-A50764B92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0292" y="1235364"/>
            <a:ext cx="6291840" cy="4387272"/>
          </a:xfrm>
          <a:prstGeom prst="rect">
            <a:avLst/>
          </a:prstGeom>
        </p:spPr>
      </p:pic>
      <p:grpSp>
        <p:nvGrpSpPr>
          <p:cNvPr id="9" name="Group 8">
            <a:extLst>
              <a:ext uri="{FF2B5EF4-FFF2-40B4-BE49-F238E27FC236}">
                <a16:creationId xmlns:a16="http://schemas.microsoft.com/office/drawing/2014/main" id="{2CF4ABB4-3E3B-6BBD-9D69-2699C883C57F}"/>
              </a:ext>
            </a:extLst>
          </p:cNvPr>
          <p:cNvGrpSpPr/>
          <p:nvPr/>
        </p:nvGrpSpPr>
        <p:grpSpPr>
          <a:xfrm>
            <a:off x="5059224" y="2013520"/>
            <a:ext cx="295565" cy="2317173"/>
            <a:chOff x="5216236" y="1819564"/>
            <a:chExt cx="295565" cy="2317173"/>
          </a:xfrm>
        </p:grpSpPr>
        <p:sp>
          <p:nvSpPr>
            <p:cNvPr id="6" name="Minus Sign 5">
              <a:extLst>
                <a:ext uri="{FF2B5EF4-FFF2-40B4-BE49-F238E27FC236}">
                  <a16:creationId xmlns:a16="http://schemas.microsoft.com/office/drawing/2014/main" id="{C46B7911-2956-F8D4-655E-84F8DECAE6A8}"/>
                </a:ext>
              </a:extLst>
            </p:cNvPr>
            <p:cNvSpPr/>
            <p:nvPr/>
          </p:nvSpPr>
          <p:spPr>
            <a:xfrm rot="5400000">
              <a:off x="4372074" y="2997011"/>
              <a:ext cx="1983889" cy="295564"/>
            </a:xfrm>
            <a:prstGeom prst="mathMinus">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inus Sign 6">
              <a:extLst>
                <a:ext uri="{FF2B5EF4-FFF2-40B4-BE49-F238E27FC236}">
                  <a16:creationId xmlns:a16="http://schemas.microsoft.com/office/drawing/2014/main" id="{7F84C12A-CC8B-14B6-6172-B0F1A7B0D9AD}"/>
                </a:ext>
              </a:extLst>
            </p:cNvPr>
            <p:cNvSpPr/>
            <p:nvPr/>
          </p:nvSpPr>
          <p:spPr>
            <a:xfrm rot="5400000">
              <a:off x="4747490" y="2288310"/>
              <a:ext cx="1233055" cy="295564"/>
            </a:xfrm>
            <a:prstGeom prst="mathMinus">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EFAB0B46-2361-021D-C189-5130B8CCEC23}"/>
              </a:ext>
            </a:extLst>
          </p:cNvPr>
          <p:cNvSpPr txBox="1"/>
          <p:nvPr/>
        </p:nvSpPr>
        <p:spPr>
          <a:xfrm>
            <a:off x="4895276" y="1828854"/>
            <a:ext cx="655782" cy="369332"/>
          </a:xfrm>
          <a:prstGeom prst="rect">
            <a:avLst/>
          </a:prstGeom>
          <a:noFill/>
        </p:spPr>
        <p:txBody>
          <a:bodyPr wrap="square">
            <a:spAutoFit/>
          </a:bodyPr>
          <a:lstStyle/>
          <a:p>
            <a:r>
              <a:rPr lang="en-US" dirty="0">
                <a:solidFill>
                  <a:srgbClr val="FFC000"/>
                </a:solidFill>
              </a:rPr>
              <a:t>High</a:t>
            </a:r>
          </a:p>
        </p:txBody>
      </p:sp>
      <p:sp>
        <p:nvSpPr>
          <p:cNvPr id="13" name="TextBox 12">
            <a:extLst>
              <a:ext uri="{FF2B5EF4-FFF2-40B4-BE49-F238E27FC236}">
                <a16:creationId xmlns:a16="http://schemas.microsoft.com/office/drawing/2014/main" id="{97E2B71D-BA7B-0FBD-35D2-1AA11DB62843}"/>
              </a:ext>
            </a:extLst>
          </p:cNvPr>
          <p:cNvSpPr txBox="1"/>
          <p:nvPr/>
        </p:nvSpPr>
        <p:spPr>
          <a:xfrm>
            <a:off x="4895276" y="3999337"/>
            <a:ext cx="655782" cy="369332"/>
          </a:xfrm>
          <a:prstGeom prst="rect">
            <a:avLst/>
          </a:prstGeom>
          <a:noFill/>
        </p:spPr>
        <p:txBody>
          <a:bodyPr wrap="square">
            <a:spAutoFit/>
          </a:bodyPr>
          <a:lstStyle/>
          <a:p>
            <a:r>
              <a:rPr lang="en-US" dirty="0">
                <a:solidFill>
                  <a:schemeClr val="accent2">
                    <a:lumMod val="50000"/>
                  </a:schemeClr>
                </a:solidFill>
              </a:rPr>
              <a:t>Low</a:t>
            </a:r>
          </a:p>
        </p:txBody>
      </p:sp>
      <p:sp>
        <p:nvSpPr>
          <p:cNvPr id="15" name="TextBox 14">
            <a:extLst>
              <a:ext uri="{FF2B5EF4-FFF2-40B4-BE49-F238E27FC236}">
                <a16:creationId xmlns:a16="http://schemas.microsoft.com/office/drawing/2014/main" id="{7A6701C3-EBA8-62DC-8E23-8C18CEE824AF}"/>
              </a:ext>
            </a:extLst>
          </p:cNvPr>
          <p:cNvSpPr txBox="1"/>
          <p:nvPr/>
        </p:nvSpPr>
        <p:spPr>
          <a:xfrm>
            <a:off x="7276887" y="704401"/>
            <a:ext cx="3298750" cy="400110"/>
          </a:xfrm>
          <a:prstGeom prst="rect">
            <a:avLst/>
          </a:prstGeom>
          <a:noFill/>
        </p:spPr>
        <p:txBody>
          <a:bodyPr wrap="square">
            <a:spAutoFit/>
          </a:bodyPr>
          <a:lstStyle/>
          <a:p>
            <a:r>
              <a:rPr lang="en-US" sz="2000" b="1" dirty="0">
                <a:solidFill>
                  <a:schemeClr val="bg1"/>
                </a:solidFill>
              </a:rPr>
              <a:t>Total Quantity by Country</a:t>
            </a:r>
          </a:p>
        </p:txBody>
      </p:sp>
      <p:sp>
        <p:nvSpPr>
          <p:cNvPr id="17" name="TextBox 16">
            <a:extLst>
              <a:ext uri="{FF2B5EF4-FFF2-40B4-BE49-F238E27FC236}">
                <a16:creationId xmlns:a16="http://schemas.microsoft.com/office/drawing/2014/main" id="{21B5C30E-44BD-54A2-00EB-5CF71ED7AA93}"/>
              </a:ext>
            </a:extLst>
          </p:cNvPr>
          <p:cNvSpPr txBox="1"/>
          <p:nvPr/>
        </p:nvSpPr>
        <p:spPr>
          <a:xfrm>
            <a:off x="173614" y="2784911"/>
            <a:ext cx="4193309"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Australia has the lowest quantities sold, while the United States has the highest quantities</a:t>
            </a:r>
            <a:r>
              <a:rPr lang="ar-SA" dirty="0">
                <a:solidFill>
                  <a:schemeClr val="bg1"/>
                </a:solidFill>
              </a:rPr>
              <a:t> </a:t>
            </a:r>
            <a:r>
              <a:rPr lang="en-US" dirty="0">
                <a:solidFill>
                  <a:schemeClr val="bg1"/>
                </a:solidFill>
              </a:rPr>
              <a:t>sold.</a:t>
            </a:r>
          </a:p>
        </p:txBody>
      </p:sp>
      <p:sp>
        <p:nvSpPr>
          <p:cNvPr id="19" name="TextBox 18">
            <a:extLst>
              <a:ext uri="{FF2B5EF4-FFF2-40B4-BE49-F238E27FC236}">
                <a16:creationId xmlns:a16="http://schemas.microsoft.com/office/drawing/2014/main" id="{A311EF56-BAC3-AE7F-C2BA-9908E735AFA1}"/>
              </a:ext>
            </a:extLst>
          </p:cNvPr>
          <p:cNvSpPr txBox="1"/>
          <p:nvPr/>
        </p:nvSpPr>
        <p:spPr>
          <a:xfrm>
            <a:off x="173614" y="6338545"/>
            <a:ext cx="6954982" cy="369332"/>
          </a:xfrm>
          <a:prstGeom prst="rect">
            <a:avLst/>
          </a:prstGeom>
          <a:noFill/>
        </p:spPr>
        <p:txBody>
          <a:bodyPr wrap="square">
            <a:spAutoFit/>
          </a:bodyPr>
          <a:lstStyle/>
          <a:p>
            <a:r>
              <a:rPr lang="en-US" b="1" dirty="0">
                <a:solidFill>
                  <a:srgbClr val="A90707"/>
                </a:solidFill>
              </a:rPr>
              <a:t>Note</a:t>
            </a:r>
            <a:r>
              <a:rPr lang="ar-SA" b="1" dirty="0">
                <a:solidFill>
                  <a:srgbClr val="A90707"/>
                </a:solidFill>
              </a:rPr>
              <a:t> </a:t>
            </a:r>
            <a:r>
              <a:rPr lang="en-US" dirty="0">
                <a:solidFill>
                  <a:srgbClr val="A90707"/>
                </a:solidFill>
              </a:rPr>
              <a:t>: </a:t>
            </a:r>
            <a:r>
              <a:rPr lang="ar-SA" dirty="0">
                <a:solidFill>
                  <a:srgbClr val="A90707"/>
                </a:solidFill>
              </a:rPr>
              <a:t> </a:t>
            </a:r>
            <a:r>
              <a:rPr lang="en-US" dirty="0">
                <a:solidFill>
                  <a:schemeClr val="tx2">
                    <a:lumMod val="10000"/>
                    <a:lumOff val="90000"/>
                  </a:schemeClr>
                </a:solidFill>
              </a:rPr>
              <a:t>Sometimes quantities do not indicate the quality of the profit.</a:t>
            </a:r>
          </a:p>
        </p:txBody>
      </p:sp>
    </p:spTree>
    <p:extLst>
      <p:ext uri="{BB962C8B-B14F-4D97-AF65-F5344CB8AC3E}">
        <p14:creationId xmlns:p14="http://schemas.microsoft.com/office/powerpoint/2010/main" val="3397751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24A8EC5-B1BB-D03B-C8D0-4C8F3439E66B}"/>
              </a:ext>
            </a:extLst>
          </p:cNvPr>
          <p:cNvGraphicFramePr>
            <a:graphicFrameLocks noGrp="1"/>
          </p:cNvGraphicFramePr>
          <p:nvPr>
            <p:extLst>
              <p:ext uri="{D42A27DB-BD31-4B8C-83A1-F6EECF244321}">
                <p14:modId xmlns:p14="http://schemas.microsoft.com/office/powerpoint/2010/main" val="744363544"/>
              </p:ext>
            </p:extLst>
          </p:nvPr>
        </p:nvGraphicFramePr>
        <p:xfrm>
          <a:off x="6677890" y="1902692"/>
          <a:ext cx="5163128" cy="2590800"/>
        </p:xfrm>
        <a:graphic>
          <a:graphicData uri="http://schemas.openxmlformats.org/drawingml/2006/table">
            <a:tbl>
              <a:tblPr firstRow="1" bandRow="1">
                <a:tableStyleId>{5C22544A-7EE6-4342-B048-85BDC9FD1C3A}</a:tableStyleId>
              </a:tblPr>
              <a:tblGrid>
                <a:gridCol w="2581564">
                  <a:extLst>
                    <a:ext uri="{9D8B030D-6E8A-4147-A177-3AD203B41FA5}">
                      <a16:colId xmlns:a16="http://schemas.microsoft.com/office/drawing/2014/main" val="1377307102"/>
                    </a:ext>
                  </a:extLst>
                </a:gridCol>
                <a:gridCol w="2581564">
                  <a:extLst>
                    <a:ext uri="{9D8B030D-6E8A-4147-A177-3AD203B41FA5}">
                      <a16:colId xmlns:a16="http://schemas.microsoft.com/office/drawing/2014/main" val="77839394"/>
                    </a:ext>
                  </a:extLst>
                </a:gridCol>
              </a:tblGrid>
              <a:tr h="0">
                <a:tc>
                  <a:txBody>
                    <a:bodyPr/>
                    <a:lstStyle/>
                    <a:p>
                      <a:pPr algn="ctr"/>
                      <a:r>
                        <a:rPr lang="en-US" dirty="0">
                          <a:solidFill>
                            <a:schemeClr val="tx1">
                              <a:lumMod val="95000"/>
                              <a:lumOff val="5000"/>
                            </a:schemeClr>
                          </a:solidFill>
                        </a:rPr>
                        <a:t>Country</a:t>
                      </a:r>
                    </a:p>
                  </a:txBody>
                  <a:tcPr/>
                </a:tc>
                <a:tc>
                  <a:txBody>
                    <a:bodyPr/>
                    <a:lstStyle/>
                    <a:p>
                      <a:pPr algn="ctr"/>
                      <a:r>
                        <a:rPr lang="en-US" dirty="0">
                          <a:solidFill>
                            <a:schemeClr val="tx1">
                              <a:lumMod val="95000"/>
                              <a:lumOff val="5000"/>
                            </a:schemeClr>
                          </a:solidFill>
                        </a:rPr>
                        <a:t>Profit</a:t>
                      </a:r>
                    </a:p>
                  </a:txBody>
                  <a:tcPr/>
                </a:tc>
                <a:extLst>
                  <a:ext uri="{0D108BD9-81ED-4DB2-BD59-A6C34878D82A}">
                    <a16:rowId xmlns:a16="http://schemas.microsoft.com/office/drawing/2014/main" val="4075122859"/>
                  </a:ext>
                </a:extLst>
              </a:tr>
              <a:tr h="370840">
                <a:tc>
                  <a:txBody>
                    <a:bodyPr/>
                    <a:lstStyle/>
                    <a:p>
                      <a:r>
                        <a:rPr lang="en-US" dirty="0"/>
                        <a:t>USA</a:t>
                      </a:r>
                    </a:p>
                  </a:txBody>
                  <a:tcPr/>
                </a:tc>
                <a:tc>
                  <a:txBody>
                    <a:bodyPr/>
                    <a:lstStyle/>
                    <a:p>
                      <a:r>
                        <a:rPr lang="en-US" dirty="0"/>
                        <a:t>36,917</a:t>
                      </a:r>
                    </a:p>
                  </a:txBody>
                  <a:tcPr/>
                </a:tc>
                <a:extLst>
                  <a:ext uri="{0D108BD9-81ED-4DB2-BD59-A6C34878D82A}">
                    <a16:rowId xmlns:a16="http://schemas.microsoft.com/office/drawing/2014/main" val="1766241352"/>
                  </a:ext>
                </a:extLst>
              </a:tr>
              <a:tr h="370840">
                <a:tc>
                  <a:txBody>
                    <a:bodyPr/>
                    <a:lstStyle/>
                    <a:p>
                      <a:r>
                        <a:rPr lang="en-US" dirty="0"/>
                        <a:t>Canada</a:t>
                      </a:r>
                    </a:p>
                  </a:txBody>
                  <a:tcPr/>
                </a:tc>
                <a:tc>
                  <a:txBody>
                    <a:bodyPr/>
                    <a:lstStyle/>
                    <a:p>
                      <a:r>
                        <a:rPr lang="en-US" dirty="0"/>
                        <a:t>15,486</a:t>
                      </a:r>
                    </a:p>
                  </a:txBody>
                  <a:tcPr/>
                </a:tc>
                <a:extLst>
                  <a:ext uri="{0D108BD9-81ED-4DB2-BD59-A6C34878D82A}">
                    <a16:rowId xmlns:a16="http://schemas.microsoft.com/office/drawing/2014/main" val="1247249658"/>
                  </a:ext>
                </a:extLst>
              </a:tr>
              <a:tr h="370840">
                <a:tc>
                  <a:txBody>
                    <a:bodyPr/>
                    <a:lstStyle/>
                    <a:p>
                      <a:r>
                        <a:rPr lang="en-US" dirty="0"/>
                        <a:t>France</a:t>
                      </a:r>
                    </a:p>
                  </a:txBody>
                  <a:tcPr/>
                </a:tc>
                <a:tc>
                  <a:txBody>
                    <a:bodyPr/>
                    <a:lstStyle/>
                    <a:p>
                      <a:r>
                        <a:rPr lang="en-US" dirty="0"/>
                        <a:t>3,510</a:t>
                      </a:r>
                    </a:p>
                  </a:txBody>
                  <a:tcPr/>
                </a:tc>
                <a:extLst>
                  <a:ext uri="{0D108BD9-81ED-4DB2-BD59-A6C34878D82A}">
                    <a16:rowId xmlns:a16="http://schemas.microsoft.com/office/drawing/2014/main" val="1925431092"/>
                  </a:ext>
                </a:extLst>
              </a:tr>
              <a:tr h="370840">
                <a:tc>
                  <a:txBody>
                    <a:bodyPr/>
                    <a:lstStyle/>
                    <a:p>
                      <a:r>
                        <a:rPr lang="en-US" dirty="0"/>
                        <a:t>UK</a:t>
                      </a:r>
                    </a:p>
                  </a:txBody>
                  <a:tcPr/>
                </a:tc>
                <a:tc>
                  <a:txBody>
                    <a:bodyPr/>
                    <a:lstStyle/>
                    <a:p>
                      <a:r>
                        <a:rPr lang="en-US" dirty="0"/>
                        <a:t>820</a:t>
                      </a:r>
                    </a:p>
                  </a:txBody>
                  <a:tcPr/>
                </a:tc>
                <a:extLst>
                  <a:ext uri="{0D108BD9-81ED-4DB2-BD59-A6C34878D82A}">
                    <a16:rowId xmlns:a16="http://schemas.microsoft.com/office/drawing/2014/main" val="1100468018"/>
                  </a:ext>
                </a:extLst>
              </a:tr>
              <a:tr h="370840">
                <a:tc>
                  <a:txBody>
                    <a:bodyPr/>
                    <a:lstStyle/>
                    <a:p>
                      <a:r>
                        <a:rPr lang="en-US" dirty="0"/>
                        <a:t>Germany</a:t>
                      </a:r>
                    </a:p>
                  </a:txBody>
                  <a:tcPr/>
                </a:tc>
                <a:tc>
                  <a:txBody>
                    <a:bodyPr/>
                    <a:lstStyle/>
                    <a:p>
                      <a:r>
                        <a:rPr lang="en-US" dirty="0"/>
                        <a:t>-3,541</a:t>
                      </a:r>
                    </a:p>
                  </a:txBody>
                  <a:tcPr/>
                </a:tc>
                <a:extLst>
                  <a:ext uri="{0D108BD9-81ED-4DB2-BD59-A6C34878D82A}">
                    <a16:rowId xmlns:a16="http://schemas.microsoft.com/office/drawing/2014/main" val="3276804574"/>
                  </a:ext>
                </a:extLst>
              </a:tr>
              <a:tr h="370840">
                <a:tc>
                  <a:txBody>
                    <a:bodyPr/>
                    <a:lstStyle/>
                    <a:p>
                      <a:r>
                        <a:rPr lang="en-US" dirty="0"/>
                        <a:t>Australia</a:t>
                      </a:r>
                    </a:p>
                  </a:txBody>
                  <a:tcPr/>
                </a:tc>
                <a:tc>
                  <a:txBody>
                    <a:bodyPr/>
                    <a:lstStyle/>
                    <a:p>
                      <a:r>
                        <a:rPr lang="en-US" dirty="0"/>
                        <a:t>-7,385</a:t>
                      </a:r>
                    </a:p>
                  </a:txBody>
                  <a:tcPr/>
                </a:tc>
                <a:extLst>
                  <a:ext uri="{0D108BD9-81ED-4DB2-BD59-A6C34878D82A}">
                    <a16:rowId xmlns:a16="http://schemas.microsoft.com/office/drawing/2014/main" val="218680158"/>
                  </a:ext>
                </a:extLst>
              </a:tr>
            </a:tbl>
          </a:graphicData>
        </a:graphic>
      </p:graphicFrame>
      <p:sp>
        <p:nvSpPr>
          <p:cNvPr id="7" name="TextBox 6">
            <a:extLst>
              <a:ext uri="{FF2B5EF4-FFF2-40B4-BE49-F238E27FC236}">
                <a16:creationId xmlns:a16="http://schemas.microsoft.com/office/drawing/2014/main" id="{2151200F-D588-363E-DE70-030E271C6155}"/>
              </a:ext>
            </a:extLst>
          </p:cNvPr>
          <p:cNvSpPr txBox="1"/>
          <p:nvPr/>
        </p:nvSpPr>
        <p:spPr>
          <a:xfrm>
            <a:off x="424873" y="2468631"/>
            <a:ext cx="3943927"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Although Australia carries small quantities (185), it has suffered the highest losses over the years.</a:t>
            </a:r>
          </a:p>
        </p:txBody>
      </p:sp>
      <p:sp>
        <p:nvSpPr>
          <p:cNvPr id="9" name="TextBox 8">
            <a:extLst>
              <a:ext uri="{FF2B5EF4-FFF2-40B4-BE49-F238E27FC236}">
                <a16:creationId xmlns:a16="http://schemas.microsoft.com/office/drawing/2014/main" id="{8053BE28-EBE8-F7A9-AAC9-2BD3CAE20819}"/>
              </a:ext>
            </a:extLst>
          </p:cNvPr>
          <p:cNvSpPr txBox="1"/>
          <p:nvPr/>
        </p:nvSpPr>
        <p:spPr>
          <a:xfrm>
            <a:off x="350982" y="3650826"/>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America had the highest share of profits</a:t>
            </a:r>
          </a:p>
        </p:txBody>
      </p:sp>
      <p:sp>
        <p:nvSpPr>
          <p:cNvPr id="11" name="TextBox 10">
            <a:extLst>
              <a:ext uri="{FF2B5EF4-FFF2-40B4-BE49-F238E27FC236}">
                <a16:creationId xmlns:a16="http://schemas.microsoft.com/office/drawing/2014/main" id="{E086AC68-4429-BD79-70B5-BD0C8B3F4CC2}"/>
              </a:ext>
            </a:extLst>
          </p:cNvPr>
          <p:cNvSpPr txBox="1"/>
          <p:nvPr/>
        </p:nvSpPr>
        <p:spPr>
          <a:xfrm>
            <a:off x="350982" y="6322398"/>
            <a:ext cx="7278255" cy="369332"/>
          </a:xfrm>
          <a:prstGeom prst="rect">
            <a:avLst/>
          </a:prstGeom>
          <a:noFill/>
        </p:spPr>
        <p:txBody>
          <a:bodyPr wrap="square">
            <a:spAutoFit/>
          </a:bodyPr>
          <a:lstStyle/>
          <a:p>
            <a:r>
              <a:rPr lang="en-US" dirty="0">
                <a:solidFill>
                  <a:schemeClr val="tx2">
                    <a:lumMod val="10000"/>
                    <a:lumOff val="90000"/>
                  </a:schemeClr>
                </a:solidFill>
              </a:rPr>
              <a:t>In the next slide, we'll discover which products have the most impact.</a:t>
            </a:r>
          </a:p>
        </p:txBody>
      </p:sp>
      <p:sp>
        <p:nvSpPr>
          <p:cNvPr id="12" name="TextBox 11">
            <a:extLst>
              <a:ext uri="{FF2B5EF4-FFF2-40B4-BE49-F238E27FC236}">
                <a16:creationId xmlns:a16="http://schemas.microsoft.com/office/drawing/2014/main" id="{ECEBC182-83DE-E902-8226-DECBD5023195}"/>
              </a:ext>
            </a:extLst>
          </p:cNvPr>
          <p:cNvSpPr txBox="1"/>
          <p:nvPr/>
        </p:nvSpPr>
        <p:spPr>
          <a:xfrm>
            <a:off x="7599218" y="1256207"/>
            <a:ext cx="3320472" cy="369332"/>
          </a:xfrm>
          <a:prstGeom prst="rect">
            <a:avLst/>
          </a:prstGeom>
          <a:noFill/>
        </p:spPr>
        <p:txBody>
          <a:bodyPr wrap="square">
            <a:spAutoFit/>
          </a:bodyPr>
          <a:lstStyle/>
          <a:p>
            <a:r>
              <a:rPr lang="en-US" b="1" dirty="0">
                <a:solidFill>
                  <a:schemeClr val="bg1"/>
                </a:solidFill>
              </a:rPr>
              <a:t>Profit Distribution by Country</a:t>
            </a:r>
          </a:p>
        </p:txBody>
      </p:sp>
      <p:cxnSp>
        <p:nvCxnSpPr>
          <p:cNvPr id="14" name="Straight Connector 13">
            <a:extLst>
              <a:ext uri="{FF2B5EF4-FFF2-40B4-BE49-F238E27FC236}">
                <a16:creationId xmlns:a16="http://schemas.microsoft.com/office/drawing/2014/main" id="{DFCB9AEE-7FB6-F34D-28F6-51A293EFC31E}"/>
              </a:ext>
            </a:extLst>
          </p:cNvPr>
          <p:cNvCxnSpPr>
            <a:cxnSpLocks/>
          </p:cNvCxnSpPr>
          <p:nvPr/>
        </p:nvCxnSpPr>
        <p:spPr>
          <a:xfrm>
            <a:off x="0" y="2207369"/>
            <a:ext cx="0" cy="176657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2608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5" name="Picture 4" descr="A pie chart with numbers and a few percentages&#10;&#10;AI-generated content may be incorrect.">
            <a:extLst>
              <a:ext uri="{FF2B5EF4-FFF2-40B4-BE49-F238E27FC236}">
                <a16:creationId xmlns:a16="http://schemas.microsoft.com/office/drawing/2014/main" id="{1A094496-C12D-F273-39A6-E28B01962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2364" y="1316052"/>
            <a:ext cx="6665045" cy="4537926"/>
          </a:xfrm>
          <a:prstGeom prst="rect">
            <a:avLst/>
          </a:prstGeom>
        </p:spPr>
      </p:pic>
      <p:sp>
        <p:nvSpPr>
          <p:cNvPr id="7" name="TextBox 6">
            <a:extLst>
              <a:ext uri="{FF2B5EF4-FFF2-40B4-BE49-F238E27FC236}">
                <a16:creationId xmlns:a16="http://schemas.microsoft.com/office/drawing/2014/main" id="{72194C05-8DD1-D960-D649-8FA0EEC1AA0F}"/>
              </a:ext>
            </a:extLst>
          </p:cNvPr>
          <p:cNvSpPr txBox="1"/>
          <p:nvPr/>
        </p:nvSpPr>
        <p:spPr>
          <a:xfrm>
            <a:off x="354591" y="1861236"/>
            <a:ext cx="3666836"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Bikes are the biggest contributor to sales, while accessories are almost invisible.</a:t>
            </a:r>
          </a:p>
        </p:txBody>
      </p:sp>
      <p:sp>
        <p:nvSpPr>
          <p:cNvPr id="9" name="TextBox 8">
            <a:extLst>
              <a:ext uri="{FF2B5EF4-FFF2-40B4-BE49-F238E27FC236}">
                <a16:creationId xmlns:a16="http://schemas.microsoft.com/office/drawing/2014/main" id="{243F0AC9-6662-B1E9-03E4-C3E2BB29F7B1}"/>
              </a:ext>
            </a:extLst>
          </p:cNvPr>
          <p:cNvSpPr txBox="1"/>
          <p:nvPr/>
        </p:nvSpPr>
        <p:spPr>
          <a:xfrm>
            <a:off x="6839744" y="604180"/>
            <a:ext cx="3408218" cy="461665"/>
          </a:xfrm>
          <a:prstGeom prst="rect">
            <a:avLst/>
          </a:prstGeom>
          <a:noFill/>
        </p:spPr>
        <p:txBody>
          <a:bodyPr wrap="square">
            <a:spAutoFit/>
          </a:bodyPr>
          <a:lstStyle/>
          <a:p>
            <a:r>
              <a:rPr lang="en-US" sz="2400" dirty="0">
                <a:solidFill>
                  <a:schemeClr val="bg1"/>
                </a:solidFill>
              </a:rPr>
              <a:t>C</a:t>
            </a:r>
            <a:r>
              <a:rPr lang="en-US" sz="2400" b="1" dirty="0">
                <a:solidFill>
                  <a:schemeClr val="bg1"/>
                </a:solidFill>
              </a:rPr>
              <a:t>ategory Distribution</a:t>
            </a:r>
          </a:p>
        </p:txBody>
      </p:sp>
      <p:cxnSp>
        <p:nvCxnSpPr>
          <p:cNvPr id="10" name="Straight Connector 9">
            <a:extLst>
              <a:ext uri="{FF2B5EF4-FFF2-40B4-BE49-F238E27FC236}">
                <a16:creationId xmlns:a16="http://schemas.microsoft.com/office/drawing/2014/main" id="{C5FFC664-FF39-D605-C9D1-79FDDE2BFA0B}"/>
              </a:ext>
            </a:extLst>
          </p:cNvPr>
          <p:cNvCxnSpPr>
            <a:cxnSpLocks/>
          </p:cNvCxnSpPr>
          <p:nvPr/>
        </p:nvCxnSpPr>
        <p:spPr>
          <a:xfrm>
            <a:off x="0" y="1930400"/>
            <a:ext cx="0" cy="3269673"/>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28B5F38-3441-1694-9373-F28DB720D4BE}"/>
              </a:ext>
            </a:extLst>
          </p:cNvPr>
          <p:cNvSpPr txBox="1"/>
          <p:nvPr/>
        </p:nvSpPr>
        <p:spPr>
          <a:xfrm>
            <a:off x="354591" y="3105833"/>
            <a:ext cx="4198929"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However, it is experiencing a massive loss estimated at 10,000 in total.</a:t>
            </a:r>
          </a:p>
        </p:txBody>
      </p:sp>
      <p:sp>
        <p:nvSpPr>
          <p:cNvPr id="16" name="TextBox 15">
            <a:extLst>
              <a:ext uri="{FF2B5EF4-FFF2-40B4-BE49-F238E27FC236}">
                <a16:creationId xmlns:a16="http://schemas.microsoft.com/office/drawing/2014/main" id="{C30954E8-8DEF-A83B-0385-3B76611E5BCC}"/>
              </a:ext>
            </a:extLst>
          </p:cNvPr>
          <p:cNvSpPr txBox="1"/>
          <p:nvPr/>
        </p:nvSpPr>
        <p:spPr>
          <a:xfrm>
            <a:off x="354591" y="4073431"/>
            <a:ext cx="4406751"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It should be noted that Canada and France are the only contributors to the positive profits in relation to Bikes.</a:t>
            </a:r>
          </a:p>
        </p:txBody>
      </p:sp>
    </p:spTree>
    <p:extLst>
      <p:ext uri="{BB962C8B-B14F-4D97-AF65-F5344CB8AC3E}">
        <p14:creationId xmlns:p14="http://schemas.microsoft.com/office/powerpoint/2010/main" val="188387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97EAB84-23F3-2B4F-5D1C-DA318594ECBE}"/>
              </a:ext>
            </a:extLst>
          </p:cNvPr>
          <p:cNvGraphicFramePr/>
          <p:nvPr>
            <p:extLst>
              <p:ext uri="{D42A27DB-BD31-4B8C-83A1-F6EECF244321}">
                <p14:modId xmlns:p14="http://schemas.microsoft.com/office/powerpoint/2010/main" val="1467776154"/>
              </p:ext>
            </p:extLst>
          </p:nvPr>
        </p:nvGraphicFramePr>
        <p:xfrm>
          <a:off x="1694873" y="2400530"/>
          <a:ext cx="8802254" cy="822960"/>
        </p:xfrm>
        <a:graphic>
          <a:graphicData uri="http://schemas.openxmlformats.org/drawingml/2006/table">
            <a:tbl>
              <a:tblPr/>
              <a:tblGrid>
                <a:gridCol w="8802254">
                  <a:extLst>
                    <a:ext uri="{9D8B030D-6E8A-4147-A177-3AD203B41FA5}">
                      <a16:colId xmlns:a16="http://schemas.microsoft.com/office/drawing/2014/main" val="2403799250"/>
                    </a:ext>
                  </a:extLst>
                </a:gridCol>
              </a:tblGrid>
              <a:tr h="0">
                <a:tc>
                  <a:txBody>
                    <a:bodyPr/>
                    <a:lstStyle/>
                    <a:p>
                      <a:r>
                        <a:rPr lang="en-US" sz="4800" b="1" kern="1200" dirty="0">
                          <a:solidFill>
                            <a:schemeClr val="bg1"/>
                          </a:solidFill>
                          <a:latin typeface="+mn-lt"/>
                          <a:ea typeface="+mn-ea"/>
                          <a:cs typeface="+mn-cs"/>
                        </a:rPr>
                        <a:t> 2- Performance Consistency</a:t>
                      </a:r>
                    </a:p>
                  </a:txBody>
                  <a:tcPr anchor="ctr">
                    <a:lnL>
                      <a:noFill/>
                    </a:lnL>
                    <a:lnR>
                      <a:noFill/>
                    </a:lnR>
                    <a:lnT>
                      <a:noFill/>
                    </a:lnT>
                    <a:lnB>
                      <a:noFill/>
                    </a:lnB>
                    <a:noFill/>
                  </a:tcPr>
                </a:tc>
                <a:extLst>
                  <a:ext uri="{0D108BD9-81ED-4DB2-BD59-A6C34878D82A}">
                    <a16:rowId xmlns:a16="http://schemas.microsoft.com/office/drawing/2014/main" val="507181972"/>
                  </a:ext>
                </a:extLst>
              </a:tr>
            </a:tbl>
          </a:graphicData>
        </a:graphic>
      </p:graphicFrame>
      <p:pic>
        <p:nvPicPr>
          <p:cNvPr id="5" name="Graphic 4" descr="Bar graph with upward trend with solid fill">
            <a:extLst>
              <a:ext uri="{FF2B5EF4-FFF2-40B4-BE49-F238E27FC236}">
                <a16:creationId xmlns:a16="http://schemas.microsoft.com/office/drawing/2014/main" id="{A28E8C25-870D-272C-0996-5D6E6579535D}"/>
              </a:ext>
            </a:extLst>
          </p:cNvPr>
          <p:cNvPicPr/>
          <p:nvPr/>
        </p:nvPicPr>
        <p:blipFill>
          <a:blip r:embed="rId2">
            <a:extLst>
              <a:ext uri="{96DAC541-7B7A-43D3-8B79-37D633B846F1}">
                <asvg:svgBlip xmlns:asvg="http://schemas.microsoft.com/office/drawing/2016/SVG/main" r:embed="rId3"/>
              </a:ext>
            </a:extLst>
          </a:blip>
          <a:stretch>
            <a:fillRect/>
          </a:stretch>
        </p:blipFill>
        <p:spPr>
          <a:xfrm>
            <a:off x="9911987" y="2533345"/>
            <a:ext cx="792958" cy="662437"/>
          </a:xfrm>
          <a:prstGeom prst="rect">
            <a:avLst/>
          </a:prstGeom>
        </p:spPr>
      </p:pic>
      <p:sp>
        <p:nvSpPr>
          <p:cNvPr id="7" name="TextBox 6">
            <a:extLst>
              <a:ext uri="{FF2B5EF4-FFF2-40B4-BE49-F238E27FC236}">
                <a16:creationId xmlns:a16="http://schemas.microsoft.com/office/drawing/2014/main" id="{996459C6-BF85-2CB9-89C1-31B58BB7B7B8}"/>
              </a:ext>
            </a:extLst>
          </p:cNvPr>
          <p:cNvSpPr txBox="1"/>
          <p:nvPr/>
        </p:nvSpPr>
        <p:spPr>
          <a:xfrm>
            <a:off x="1214582" y="4151806"/>
            <a:ext cx="10146146" cy="584775"/>
          </a:xfrm>
          <a:prstGeom prst="rect">
            <a:avLst/>
          </a:prstGeom>
          <a:noFill/>
        </p:spPr>
        <p:txBody>
          <a:bodyPr wrap="square">
            <a:spAutoFit/>
          </a:bodyPr>
          <a:lstStyle/>
          <a:p>
            <a:r>
              <a:rPr lang="en-US" sz="3200" dirty="0">
                <a:solidFill>
                  <a:schemeClr val="bg1"/>
                </a:solidFill>
              </a:rPr>
              <a:t>Is performance consistent across categories and time?</a:t>
            </a:r>
            <a:endParaRPr lang="en-US" sz="3200" dirty="0"/>
          </a:p>
        </p:txBody>
      </p:sp>
    </p:spTree>
    <p:extLst>
      <p:ext uri="{BB962C8B-B14F-4D97-AF65-F5344CB8AC3E}">
        <p14:creationId xmlns:p14="http://schemas.microsoft.com/office/powerpoint/2010/main" val="334390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5" name="Picture 4" descr="A graph with lines and numbers&#10;&#10;AI-generated content may be incorrect.">
            <a:extLst>
              <a:ext uri="{FF2B5EF4-FFF2-40B4-BE49-F238E27FC236}">
                <a16:creationId xmlns:a16="http://schemas.microsoft.com/office/drawing/2014/main" id="{65B68D34-094C-FAE0-E8E0-ABC5C29F3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9579" y="1204334"/>
            <a:ext cx="7012421" cy="4486275"/>
          </a:xfrm>
          <a:prstGeom prst="rect">
            <a:avLst/>
          </a:prstGeom>
        </p:spPr>
      </p:pic>
      <p:sp>
        <p:nvSpPr>
          <p:cNvPr id="7" name="TextBox 6">
            <a:extLst>
              <a:ext uri="{FF2B5EF4-FFF2-40B4-BE49-F238E27FC236}">
                <a16:creationId xmlns:a16="http://schemas.microsoft.com/office/drawing/2014/main" id="{38E11EF0-22F8-C0C3-01C3-D314B890657E}"/>
              </a:ext>
            </a:extLst>
          </p:cNvPr>
          <p:cNvSpPr txBox="1"/>
          <p:nvPr/>
        </p:nvSpPr>
        <p:spPr>
          <a:xfrm>
            <a:off x="6764625" y="475733"/>
            <a:ext cx="3842328" cy="461665"/>
          </a:xfrm>
          <a:prstGeom prst="rect">
            <a:avLst/>
          </a:prstGeom>
          <a:noFill/>
        </p:spPr>
        <p:txBody>
          <a:bodyPr wrap="square">
            <a:spAutoFit/>
          </a:bodyPr>
          <a:lstStyle/>
          <a:p>
            <a:r>
              <a:rPr lang="en-US" sz="2400" b="1" dirty="0">
                <a:solidFill>
                  <a:schemeClr val="bg1"/>
                </a:solidFill>
              </a:rPr>
              <a:t>Profit trend over the years</a:t>
            </a:r>
          </a:p>
        </p:txBody>
      </p:sp>
      <p:sp>
        <p:nvSpPr>
          <p:cNvPr id="9" name="TextBox 8">
            <a:extLst>
              <a:ext uri="{FF2B5EF4-FFF2-40B4-BE49-F238E27FC236}">
                <a16:creationId xmlns:a16="http://schemas.microsoft.com/office/drawing/2014/main" id="{906000A1-F4A9-43D3-2724-B453039FA8C7}"/>
              </a:ext>
            </a:extLst>
          </p:cNvPr>
          <p:cNvSpPr txBox="1"/>
          <p:nvPr/>
        </p:nvSpPr>
        <p:spPr>
          <a:xfrm>
            <a:off x="314036" y="1204334"/>
            <a:ext cx="3048000" cy="523220"/>
          </a:xfrm>
          <a:prstGeom prst="rect">
            <a:avLst/>
          </a:prstGeom>
          <a:noFill/>
        </p:spPr>
        <p:txBody>
          <a:bodyPr wrap="square">
            <a:spAutoFit/>
          </a:bodyPr>
          <a:lstStyle/>
          <a:p>
            <a:r>
              <a:rPr lang="en-US" sz="2800" b="1" dirty="0">
                <a:solidFill>
                  <a:schemeClr val="bg1"/>
                </a:solidFill>
              </a:rPr>
              <a:t>General situation</a:t>
            </a:r>
          </a:p>
        </p:txBody>
      </p:sp>
      <p:sp>
        <p:nvSpPr>
          <p:cNvPr id="10" name="Minus Sign 9">
            <a:extLst>
              <a:ext uri="{FF2B5EF4-FFF2-40B4-BE49-F238E27FC236}">
                <a16:creationId xmlns:a16="http://schemas.microsoft.com/office/drawing/2014/main" id="{647AE83E-0F30-5E0A-0B1A-5F28A40CC619}"/>
              </a:ext>
            </a:extLst>
          </p:cNvPr>
          <p:cNvSpPr/>
          <p:nvPr/>
        </p:nvSpPr>
        <p:spPr>
          <a:xfrm rot="5400000">
            <a:off x="-126659" y="1280873"/>
            <a:ext cx="591812" cy="338493"/>
          </a:xfrm>
          <a:prstGeom prst="mathMinus">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37A4D42-9D1D-3DA9-6A58-E647A38D806A}"/>
              </a:ext>
            </a:extLst>
          </p:cNvPr>
          <p:cNvCxnSpPr>
            <a:cxnSpLocks/>
          </p:cNvCxnSpPr>
          <p:nvPr/>
        </p:nvCxnSpPr>
        <p:spPr>
          <a:xfrm>
            <a:off x="0" y="2247142"/>
            <a:ext cx="0" cy="389670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96655DA-674C-B441-72B3-DE68FF288095}"/>
              </a:ext>
            </a:extLst>
          </p:cNvPr>
          <p:cNvSpPr txBox="1"/>
          <p:nvPr/>
        </p:nvSpPr>
        <p:spPr>
          <a:xfrm>
            <a:off x="64652" y="2247142"/>
            <a:ext cx="3682997"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00B0F0"/>
                </a:solidFill>
              </a:rPr>
              <a:t>Accessories</a:t>
            </a:r>
            <a:r>
              <a:rPr lang="en-US" dirty="0">
                <a:solidFill>
                  <a:schemeClr val="bg1"/>
                </a:solidFill>
              </a:rPr>
              <a:t> and </a:t>
            </a:r>
            <a:r>
              <a:rPr lang="en-US" dirty="0">
                <a:solidFill>
                  <a:schemeClr val="accent2"/>
                </a:solidFill>
              </a:rPr>
              <a:t>clothing</a:t>
            </a:r>
            <a:r>
              <a:rPr lang="en-US" dirty="0">
                <a:solidFill>
                  <a:schemeClr val="bg1"/>
                </a:solidFill>
              </a:rPr>
              <a:t> have maintained a relatively stable and positive trend over the years.</a:t>
            </a:r>
          </a:p>
        </p:txBody>
      </p:sp>
      <p:sp>
        <p:nvSpPr>
          <p:cNvPr id="15" name="TextBox 14">
            <a:extLst>
              <a:ext uri="{FF2B5EF4-FFF2-40B4-BE49-F238E27FC236}">
                <a16:creationId xmlns:a16="http://schemas.microsoft.com/office/drawing/2014/main" id="{7395A9D1-B93F-DB1B-1540-92CD2CCBFAEC}"/>
              </a:ext>
            </a:extLst>
          </p:cNvPr>
          <p:cNvSpPr txBox="1"/>
          <p:nvPr/>
        </p:nvSpPr>
        <p:spPr>
          <a:xfrm>
            <a:off x="64652" y="3731488"/>
            <a:ext cx="4154053"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It is important to clarify that </a:t>
            </a:r>
            <a:r>
              <a:rPr lang="en-US" dirty="0">
                <a:solidFill>
                  <a:srgbClr val="00B0F0"/>
                </a:solidFill>
              </a:rPr>
              <a:t>Accessories</a:t>
            </a:r>
            <a:r>
              <a:rPr lang="en-US" dirty="0">
                <a:solidFill>
                  <a:schemeClr val="bg1"/>
                </a:solidFill>
              </a:rPr>
              <a:t> are almost unprofitable or have no impact over the years.</a:t>
            </a:r>
          </a:p>
        </p:txBody>
      </p:sp>
      <p:sp>
        <p:nvSpPr>
          <p:cNvPr id="17" name="TextBox 16">
            <a:extLst>
              <a:ext uri="{FF2B5EF4-FFF2-40B4-BE49-F238E27FC236}">
                <a16:creationId xmlns:a16="http://schemas.microsoft.com/office/drawing/2014/main" id="{AF00ABC7-2CEA-3007-0B82-AB0C6208BA8B}"/>
              </a:ext>
            </a:extLst>
          </p:cNvPr>
          <p:cNvSpPr txBox="1"/>
          <p:nvPr/>
        </p:nvSpPr>
        <p:spPr>
          <a:xfrm>
            <a:off x="64652" y="4943514"/>
            <a:ext cx="4237182"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It is sad to say that </a:t>
            </a:r>
            <a:r>
              <a:rPr lang="en-US" dirty="0">
                <a:solidFill>
                  <a:srgbClr val="C00000"/>
                </a:solidFill>
              </a:rPr>
              <a:t>Bikes</a:t>
            </a:r>
            <a:r>
              <a:rPr lang="en-US" dirty="0">
                <a:solidFill>
                  <a:schemeClr val="bg1"/>
                </a:solidFill>
              </a:rPr>
              <a:t> have truly entered the danger zone, while </a:t>
            </a:r>
            <a:r>
              <a:rPr lang="en-US" dirty="0">
                <a:solidFill>
                  <a:schemeClr val="accent5">
                    <a:lumMod val="60000"/>
                    <a:lumOff val="40000"/>
                  </a:schemeClr>
                </a:solidFill>
              </a:rPr>
              <a:t>Components</a:t>
            </a:r>
            <a:r>
              <a:rPr lang="en-US" dirty="0">
                <a:solidFill>
                  <a:schemeClr val="bg1"/>
                </a:solidFill>
              </a:rPr>
              <a:t> are declining but in a last position so far.</a:t>
            </a:r>
          </a:p>
        </p:txBody>
      </p:sp>
    </p:spTree>
    <p:extLst>
      <p:ext uri="{BB962C8B-B14F-4D97-AF65-F5344CB8AC3E}">
        <p14:creationId xmlns:p14="http://schemas.microsoft.com/office/powerpoint/2010/main" val="2811115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5" name="Picture 4" descr="A graph showing the number of countries/regions&#10;&#10;AI-generated content may be incorrect.">
            <a:extLst>
              <a:ext uri="{FF2B5EF4-FFF2-40B4-BE49-F238E27FC236}">
                <a16:creationId xmlns:a16="http://schemas.microsoft.com/office/drawing/2014/main" id="{6EEFEC8B-DF04-11DE-CED7-B695205785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6108" y="1311564"/>
            <a:ext cx="7031183" cy="4426096"/>
          </a:xfrm>
          <a:prstGeom prst="rect">
            <a:avLst/>
          </a:prstGeom>
        </p:spPr>
      </p:pic>
      <p:sp>
        <p:nvSpPr>
          <p:cNvPr id="8" name="TextBox 7">
            <a:extLst>
              <a:ext uri="{FF2B5EF4-FFF2-40B4-BE49-F238E27FC236}">
                <a16:creationId xmlns:a16="http://schemas.microsoft.com/office/drawing/2014/main" id="{DCAE2D73-92F6-6DB3-04F4-06D1F161EC7E}"/>
              </a:ext>
            </a:extLst>
          </p:cNvPr>
          <p:cNvSpPr txBox="1"/>
          <p:nvPr/>
        </p:nvSpPr>
        <p:spPr>
          <a:xfrm>
            <a:off x="154708" y="2145635"/>
            <a:ext cx="3362036" cy="1477328"/>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Performance varies significantly by country, even within the same category, indicating weak consistency over time and geography.</a:t>
            </a:r>
          </a:p>
        </p:txBody>
      </p:sp>
      <p:sp>
        <p:nvSpPr>
          <p:cNvPr id="10" name="TextBox 9">
            <a:extLst>
              <a:ext uri="{FF2B5EF4-FFF2-40B4-BE49-F238E27FC236}">
                <a16:creationId xmlns:a16="http://schemas.microsoft.com/office/drawing/2014/main" id="{F3EDFFF1-9B3F-78A7-768E-DE7EDEC17561}"/>
              </a:ext>
            </a:extLst>
          </p:cNvPr>
          <p:cNvSpPr txBox="1"/>
          <p:nvPr/>
        </p:nvSpPr>
        <p:spPr>
          <a:xfrm rot="16200000">
            <a:off x="4387333" y="1767006"/>
            <a:ext cx="868218" cy="369332"/>
          </a:xfrm>
          <a:prstGeom prst="rect">
            <a:avLst/>
          </a:prstGeom>
          <a:noFill/>
        </p:spPr>
        <p:txBody>
          <a:bodyPr wrap="square">
            <a:spAutoFit/>
          </a:bodyPr>
          <a:lstStyle/>
          <a:p>
            <a:r>
              <a:rPr lang="en-US" dirty="0">
                <a:solidFill>
                  <a:schemeClr val="accent2"/>
                </a:solidFill>
              </a:rPr>
              <a:t>Profit</a:t>
            </a:r>
          </a:p>
        </p:txBody>
      </p:sp>
      <p:sp>
        <p:nvSpPr>
          <p:cNvPr id="11" name="TextBox 10">
            <a:extLst>
              <a:ext uri="{FF2B5EF4-FFF2-40B4-BE49-F238E27FC236}">
                <a16:creationId xmlns:a16="http://schemas.microsoft.com/office/drawing/2014/main" id="{1CB46A48-7C1A-D92C-9363-3B4A3C495D68}"/>
              </a:ext>
            </a:extLst>
          </p:cNvPr>
          <p:cNvSpPr txBox="1"/>
          <p:nvPr/>
        </p:nvSpPr>
        <p:spPr>
          <a:xfrm rot="16200000">
            <a:off x="4387333" y="4721663"/>
            <a:ext cx="868218" cy="369332"/>
          </a:xfrm>
          <a:prstGeom prst="rect">
            <a:avLst/>
          </a:prstGeom>
          <a:noFill/>
        </p:spPr>
        <p:txBody>
          <a:bodyPr wrap="square">
            <a:spAutoFit/>
          </a:bodyPr>
          <a:lstStyle/>
          <a:p>
            <a:r>
              <a:rPr lang="en-US" dirty="0">
                <a:solidFill>
                  <a:srgbClr val="A90707"/>
                </a:solidFill>
              </a:rPr>
              <a:t>Loss</a:t>
            </a:r>
          </a:p>
        </p:txBody>
      </p:sp>
      <p:cxnSp>
        <p:nvCxnSpPr>
          <p:cNvPr id="13" name="Straight Arrow Connector 12">
            <a:extLst>
              <a:ext uri="{FF2B5EF4-FFF2-40B4-BE49-F238E27FC236}">
                <a16:creationId xmlns:a16="http://schemas.microsoft.com/office/drawing/2014/main" id="{F30820D8-BBE5-E630-E44B-96E2C94E592F}"/>
              </a:ext>
            </a:extLst>
          </p:cNvPr>
          <p:cNvCxnSpPr>
            <a:cxnSpLocks/>
          </p:cNvCxnSpPr>
          <p:nvPr/>
        </p:nvCxnSpPr>
        <p:spPr>
          <a:xfrm flipV="1">
            <a:off x="4821442" y="2362230"/>
            <a:ext cx="0" cy="232476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DC0ACAB-E0BA-21AD-D524-B7B48E474646}"/>
              </a:ext>
            </a:extLst>
          </p:cNvPr>
          <p:cNvSpPr txBox="1"/>
          <p:nvPr/>
        </p:nvSpPr>
        <p:spPr>
          <a:xfrm>
            <a:off x="5941291" y="521916"/>
            <a:ext cx="6096000" cy="400110"/>
          </a:xfrm>
          <a:prstGeom prst="rect">
            <a:avLst/>
          </a:prstGeom>
          <a:noFill/>
        </p:spPr>
        <p:txBody>
          <a:bodyPr wrap="square">
            <a:spAutoFit/>
          </a:bodyPr>
          <a:lstStyle/>
          <a:p>
            <a:r>
              <a:rPr lang="en-US" sz="2000" b="1" dirty="0">
                <a:solidFill>
                  <a:schemeClr val="bg1"/>
                </a:solidFill>
              </a:rPr>
              <a:t>Distributing profits by countries</a:t>
            </a:r>
          </a:p>
        </p:txBody>
      </p:sp>
      <p:sp>
        <p:nvSpPr>
          <p:cNvPr id="19" name="TextBox 18">
            <a:extLst>
              <a:ext uri="{FF2B5EF4-FFF2-40B4-BE49-F238E27FC236}">
                <a16:creationId xmlns:a16="http://schemas.microsoft.com/office/drawing/2014/main" id="{CBF3F71C-1B3F-E94B-68E0-D4F296CF9E81}"/>
              </a:ext>
            </a:extLst>
          </p:cNvPr>
          <p:cNvSpPr txBox="1"/>
          <p:nvPr/>
        </p:nvSpPr>
        <p:spPr>
          <a:xfrm>
            <a:off x="154708" y="4086829"/>
            <a:ext cx="4073235"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We are playing below average in all countries, and here we discover that profit is only one element, and it is now also on the verge of being lost.</a:t>
            </a:r>
          </a:p>
        </p:txBody>
      </p:sp>
      <p:cxnSp>
        <p:nvCxnSpPr>
          <p:cNvPr id="20" name="Straight Connector 19">
            <a:extLst>
              <a:ext uri="{FF2B5EF4-FFF2-40B4-BE49-F238E27FC236}">
                <a16:creationId xmlns:a16="http://schemas.microsoft.com/office/drawing/2014/main" id="{40D06335-5BF1-91AB-1776-62CBDE1BD40B}"/>
              </a:ext>
            </a:extLst>
          </p:cNvPr>
          <p:cNvCxnSpPr>
            <a:cxnSpLocks/>
          </p:cNvCxnSpPr>
          <p:nvPr/>
        </p:nvCxnSpPr>
        <p:spPr>
          <a:xfrm>
            <a:off x="0" y="2145635"/>
            <a:ext cx="0" cy="3141523"/>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6551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D1E5933-A964-EF11-98CD-C397C3681298}"/>
              </a:ext>
            </a:extLst>
          </p:cNvPr>
          <p:cNvGraphicFramePr/>
          <p:nvPr>
            <p:extLst>
              <p:ext uri="{D42A27DB-BD31-4B8C-83A1-F6EECF244321}">
                <p14:modId xmlns:p14="http://schemas.microsoft.com/office/powerpoint/2010/main" val="2096934880"/>
              </p:ext>
            </p:extLst>
          </p:nvPr>
        </p:nvGraphicFramePr>
        <p:xfrm>
          <a:off x="3237052" y="2606040"/>
          <a:ext cx="5717896" cy="822960"/>
        </p:xfrm>
        <a:graphic>
          <a:graphicData uri="http://schemas.openxmlformats.org/drawingml/2006/table">
            <a:tbl>
              <a:tblPr/>
              <a:tblGrid>
                <a:gridCol w="5717896">
                  <a:extLst>
                    <a:ext uri="{9D8B030D-6E8A-4147-A177-3AD203B41FA5}">
                      <a16:colId xmlns:a16="http://schemas.microsoft.com/office/drawing/2014/main" val="521958130"/>
                    </a:ext>
                  </a:extLst>
                </a:gridCol>
              </a:tblGrid>
              <a:tr h="0">
                <a:tc>
                  <a:txBody>
                    <a:bodyPr/>
                    <a:lstStyle/>
                    <a:p>
                      <a:r>
                        <a:rPr lang="en-US" sz="4800" b="1" kern="1200" dirty="0">
                          <a:solidFill>
                            <a:schemeClr val="bg1"/>
                          </a:solidFill>
                          <a:latin typeface="+mn-lt"/>
                          <a:ea typeface="+mn-ea"/>
                          <a:cs typeface="+mn-cs"/>
                        </a:rPr>
                        <a:t>3- Revenue vs Profit</a:t>
                      </a:r>
                    </a:p>
                  </a:txBody>
                  <a:tcPr anchor="ctr">
                    <a:lnL>
                      <a:noFill/>
                    </a:lnL>
                    <a:lnR>
                      <a:noFill/>
                    </a:lnR>
                    <a:lnT>
                      <a:noFill/>
                    </a:lnT>
                    <a:lnB>
                      <a:noFill/>
                    </a:lnB>
                    <a:noFill/>
                  </a:tcPr>
                </a:tc>
                <a:extLst>
                  <a:ext uri="{0D108BD9-81ED-4DB2-BD59-A6C34878D82A}">
                    <a16:rowId xmlns:a16="http://schemas.microsoft.com/office/drawing/2014/main" val="1583142193"/>
                  </a:ext>
                </a:extLst>
              </a:tr>
            </a:tbl>
          </a:graphicData>
        </a:graphic>
      </p:graphicFrame>
      <p:pic>
        <p:nvPicPr>
          <p:cNvPr id="6" name="Graphic 5" descr="Coins with solid fill">
            <a:extLst>
              <a:ext uri="{FF2B5EF4-FFF2-40B4-BE49-F238E27FC236}">
                <a16:creationId xmlns:a16="http://schemas.microsoft.com/office/drawing/2014/main" id="{80E4295B-7AC6-BA72-C8B4-AECA9BEF58D7}"/>
              </a:ext>
            </a:extLst>
          </p:cNvPr>
          <p:cNvPicPr/>
          <p:nvPr/>
        </p:nvPicPr>
        <p:blipFill>
          <a:blip r:embed="rId2">
            <a:extLst>
              <a:ext uri="{96DAC541-7B7A-43D3-8B79-37D633B846F1}">
                <asvg:svgBlip xmlns:asvg="http://schemas.microsoft.com/office/drawing/2016/SVG/main" r:embed="rId3"/>
              </a:ext>
            </a:extLst>
          </a:blip>
          <a:stretch>
            <a:fillRect/>
          </a:stretch>
        </p:blipFill>
        <p:spPr>
          <a:xfrm>
            <a:off x="8954948" y="2743363"/>
            <a:ext cx="755241" cy="585258"/>
          </a:xfrm>
          <a:prstGeom prst="rect">
            <a:avLst/>
          </a:prstGeom>
        </p:spPr>
      </p:pic>
      <p:sp>
        <p:nvSpPr>
          <p:cNvPr id="8" name="TextBox 7">
            <a:extLst>
              <a:ext uri="{FF2B5EF4-FFF2-40B4-BE49-F238E27FC236}">
                <a16:creationId xmlns:a16="http://schemas.microsoft.com/office/drawing/2014/main" id="{6074B571-20BC-D849-52D0-0D6FBE2DB705}"/>
              </a:ext>
            </a:extLst>
          </p:cNvPr>
          <p:cNvSpPr txBox="1"/>
          <p:nvPr/>
        </p:nvSpPr>
        <p:spPr>
          <a:xfrm>
            <a:off x="1976581" y="4151807"/>
            <a:ext cx="9079345" cy="584775"/>
          </a:xfrm>
          <a:prstGeom prst="rect">
            <a:avLst/>
          </a:prstGeom>
          <a:noFill/>
        </p:spPr>
        <p:txBody>
          <a:bodyPr wrap="square">
            <a:spAutoFit/>
          </a:bodyPr>
          <a:lstStyle/>
          <a:p>
            <a:r>
              <a:rPr lang="en-US" sz="3200" dirty="0">
                <a:solidFill>
                  <a:schemeClr val="bg1"/>
                </a:solidFill>
              </a:rPr>
              <a:t>Why doesn’t strong revenue translate into profit?</a:t>
            </a:r>
            <a:endParaRPr lang="en-US" sz="3200" dirty="0"/>
          </a:p>
        </p:txBody>
      </p:sp>
    </p:spTree>
    <p:extLst>
      <p:ext uri="{BB962C8B-B14F-4D97-AF65-F5344CB8AC3E}">
        <p14:creationId xmlns:p14="http://schemas.microsoft.com/office/powerpoint/2010/main" val="357858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7" name="Picture 6" descr="A graph showing a graph of cost&#10;&#10;AI-generated content may be incorrect.">
            <a:extLst>
              <a:ext uri="{FF2B5EF4-FFF2-40B4-BE49-F238E27FC236}">
                <a16:creationId xmlns:a16="http://schemas.microsoft.com/office/drawing/2014/main" id="{820F22CF-B522-5F74-4E74-85B173ADFC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245" y="1274618"/>
            <a:ext cx="7480155" cy="4850246"/>
          </a:xfrm>
          <a:prstGeom prst="rect">
            <a:avLst/>
          </a:prstGeom>
        </p:spPr>
      </p:pic>
      <p:sp>
        <p:nvSpPr>
          <p:cNvPr id="9" name="TextBox 8">
            <a:extLst>
              <a:ext uri="{FF2B5EF4-FFF2-40B4-BE49-F238E27FC236}">
                <a16:creationId xmlns:a16="http://schemas.microsoft.com/office/drawing/2014/main" id="{770B7048-E034-146C-1CA7-2BAA6D64EC4A}"/>
              </a:ext>
            </a:extLst>
          </p:cNvPr>
          <p:cNvSpPr txBox="1"/>
          <p:nvPr/>
        </p:nvSpPr>
        <p:spPr>
          <a:xfrm>
            <a:off x="6908801" y="622376"/>
            <a:ext cx="3620654" cy="461665"/>
          </a:xfrm>
          <a:prstGeom prst="rect">
            <a:avLst/>
          </a:prstGeom>
          <a:noFill/>
        </p:spPr>
        <p:txBody>
          <a:bodyPr wrap="square">
            <a:spAutoFit/>
          </a:bodyPr>
          <a:lstStyle/>
          <a:p>
            <a:r>
              <a:rPr lang="en-US" sz="2400" b="1" dirty="0">
                <a:solidFill>
                  <a:schemeClr val="bg1"/>
                </a:solidFill>
              </a:rPr>
              <a:t>Cost Weight VS Revenue</a:t>
            </a:r>
          </a:p>
        </p:txBody>
      </p:sp>
      <p:cxnSp>
        <p:nvCxnSpPr>
          <p:cNvPr id="11" name="Straight Arrow Connector 10">
            <a:extLst>
              <a:ext uri="{FF2B5EF4-FFF2-40B4-BE49-F238E27FC236}">
                <a16:creationId xmlns:a16="http://schemas.microsoft.com/office/drawing/2014/main" id="{52E4AE82-9212-3012-BDB9-E5A9A69527B7}"/>
              </a:ext>
            </a:extLst>
          </p:cNvPr>
          <p:cNvCxnSpPr>
            <a:cxnSpLocks/>
          </p:cNvCxnSpPr>
          <p:nvPr/>
        </p:nvCxnSpPr>
        <p:spPr>
          <a:xfrm>
            <a:off x="7684655" y="3112655"/>
            <a:ext cx="397163" cy="58708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0A70C5B-4085-D0F8-A6AC-5E230924785D}"/>
              </a:ext>
            </a:extLst>
          </p:cNvPr>
          <p:cNvSpPr txBox="1"/>
          <p:nvPr/>
        </p:nvSpPr>
        <p:spPr>
          <a:xfrm rot="20339674">
            <a:off x="6985263" y="2722023"/>
            <a:ext cx="1246908" cy="400110"/>
          </a:xfrm>
          <a:prstGeom prst="rect">
            <a:avLst/>
          </a:prstGeom>
          <a:noFill/>
        </p:spPr>
        <p:txBody>
          <a:bodyPr wrap="square">
            <a:spAutoFit/>
          </a:bodyPr>
          <a:lstStyle/>
          <a:p>
            <a:r>
              <a:rPr lang="en-US" sz="2000" dirty="0">
                <a:solidFill>
                  <a:schemeClr val="accent2"/>
                </a:solidFill>
              </a:rPr>
              <a:t>Products</a:t>
            </a:r>
          </a:p>
        </p:txBody>
      </p:sp>
      <p:sp>
        <p:nvSpPr>
          <p:cNvPr id="16" name="TextBox 15">
            <a:extLst>
              <a:ext uri="{FF2B5EF4-FFF2-40B4-BE49-F238E27FC236}">
                <a16:creationId xmlns:a16="http://schemas.microsoft.com/office/drawing/2014/main" id="{84E36A24-4DEE-57D8-B65E-143ABEADD99D}"/>
              </a:ext>
            </a:extLst>
          </p:cNvPr>
          <p:cNvSpPr txBox="1"/>
          <p:nvPr/>
        </p:nvSpPr>
        <p:spPr>
          <a:xfrm>
            <a:off x="230671" y="2736789"/>
            <a:ext cx="3325091"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One of the problems is that revenues are equal to or close to cost prices.</a:t>
            </a:r>
          </a:p>
        </p:txBody>
      </p:sp>
      <p:cxnSp>
        <p:nvCxnSpPr>
          <p:cNvPr id="17" name="Straight Connector 16">
            <a:extLst>
              <a:ext uri="{FF2B5EF4-FFF2-40B4-BE49-F238E27FC236}">
                <a16:creationId xmlns:a16="http://schemas.microsoft.com/office/drawing/2014/main" id="{16316441-3692-4219-89C7-1EC13D5B0E6B}"/>
              </a:ext>
            </a:extLst>
          </p:cNvPr>
          <p:cNvCxnSpPr>
            <a:cxnSpLocks/>
          </p:cNvCxnSpPr>
          <p:nvPr/>
        </p:nvCxnSpPr>
        <p:spPr>
          <a:xfrm>
            <a:off x="0" y="2641600"/>
            <a:ext cx="0" cy="279861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6B7F565-661C-BDC8-0737-4A48559408EC}"/>
              </a:ext>
            </a:extLst>
          </p:cNvPr>
          <p:cNvSpPr txBox="1"/>
          <p:nvPr/>
        </p:nvSpPr>
        <p:spPr>
          <a:xfrm>
            <a:off x="230671" y="4071295"/>
            <a:ext cx="3733274"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There shouldn't be a trend between sales and costs, as this might indicate that we are selling on a small margin</a:t>
            </a:r>
            <a:r>
              <a:rPr lang="en-US" dirty="0"/>
              <a:t>.</a:t>
            </a:r>
          </a:p>
        </p:txBody>
      </p:sp>
    </p:spTree>
    <p:extLst>
      <p:ext uri="{BB962C8B-B14F-4D97-AF65-F5344CB8AC3E}">
        <p14:creationId xmlns:p14="http://schemas.microsoft.com/office/powerpoint/2010/main" val="3630430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BC5AB0-0FEA-01AA-B1A4-1627E9FAFE74}"/>
              </a:ext>
            </a:extLst>
          </p:cNvPr>
          <p:cNvSpPr txBox="1"/>
          <p:nvPr/>
        </p:nvSpPr>
        <p:spPr>
          <a:xfrm>
            <a:off x="2235959" y="2598003"/>
            <a:ext cx="7397569" cy="830997"/>
          </a:xfrm>
          <a:prstGeom prst="rect">
            <a:avLst/>
          </a:prstGeom>
          <a:noFill/>
        </p:spPr>
        <p:txBody>
          <a:bodyPr wrap="square">
            <a:spAutoFit/>
          </a:bodyPr>
          <a:lstStyle/>
          <a:p>
            <a:pPr algn="ctr"/>
            <a:r>
              <a:rPr lang="en-US" sz="4800" b="1" dirty="0">
                <a:solidFill>
                  <a:schemeClr val="bg1"/>
                </a:solidFill>
              </a:rPr>
              <a:t>4- Loss Concentration</a:t>
            </a:r>
          </a:p>
        </p:txBody>
      </p:sp>
      <p:pic>
        <p:nvPicPr>
          <p:cNvPr id="6" name="Graphic 5" descr="Bullseye with solid fill">
            <a:extLst>
              <a:ext uri="{FF2B5EF4-FFF2-40B4-BE49-F238E27FC236}">
                <a16:creationId xmlns:a16="http://schemas.microsoft.com/office/drawing/2014/main" id="{536804CB-A2B3-281D-A155-DDE8B4D19502}"/>
              </a:ext>
            </a:extLst>
          </p:cNvPr>
          <p:cNvPicPr/>
          <p:nvPr/>
        </p:nvPicPr>
        <p:blipFill>
          <a:blip r:embed="rId2">
            <a:extLst>
              <a:ext uri="{96DAC541-7B7A-43D3-8B79-37D633B846F1}">
                <asvg:svgBlip xmlns:asvg="http://schemas.microsoft.com/office/drawing/2016/SVG/main" r:embed="rId3"/>
              </a:ext>
            </a:extLst>
          </a:blip>
          <a:stretch>
            <a:fillRect/>
          </a:stretch>
        </p:blipFill>
        <p:spPr>
          <a:xfrm>
            <a:off x="9099712" y="2686655"/>
            <a:ext cx="681597" cy="653691"/>
          </a:xfrm>
          <a:prstGeom prst="rect">
            <a:avLst/>
          </a:prstGeom>
        </p:spPr>
      </p:pic>
      <p:sp>
        <p:nvSpPr>
          <p:cNvPr id="8" name="TextBox 7">
            <a:extLst>
              <a:ext uri="{FF2B5EF4-FFF2-40B4-BE49-F238E27FC236}">
                <a16:creationId xmlns:a16="http://schemas.microsoft.com/office/drawing/2014/main" id="{4F8B1215-3F30-B529-85D0-FB80035613F8}"/>
              </a:ext>
            </a:extLst>
          </p:cNvPr>
          <p:cNvSpPr txBox="1"/>
          <p:nvPr/>
        </p:nvSpPr>
        <p:spPr>
          <a:xfrm>
            <a:off x="1893455" y="3920899"/>
            <a:ext cx="8940800" cy="646331"/>
          </a:xfrm>
          <a:prstGeom prst="rect">
            <a:avLst/>
          </a:prstGeom>
          <a:noFill/>
        </p:spPr>
        <p:txBody>
          <a:bodyPr wrap="square">
            <a:spAutoFit/>
          </a:bodyPr>
          <a:lstStyle/>
          <a:p>
            <a:r>
              <a:rPr lang="en-US" sz="3600" dirty="0">
                <a:solidFill>
                  <a:schemeClr val="bg1"/>
                </a:solidFill>
              </a:rPr>
              <a:t>Where exactly are the losses concentrated?</a:t>
            </a:r>
            <a:endParaRPr lang="en-US" sz="3600" dirty="0"/>
          </a:p>
        </p:txBody>
      </p:sp>
    </p:spTree>
    <p:extLst>
      <p:ext uri="{BB962C8B-B14F-4D97-AF65-F5344CB8AC3E}">
        <p14:creationId xmlns:p14="http://schemas.microsoft.com/office/powerpoint/2010/main" val="141981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209B123-86A9-06D4-40E6-96C683F40781}"/>
              </a:ext>
            </a:extLst>
          </p:cNvPr>
          <p:cNvSpPr txBox="1"/>
          <p:nvPr/>
        </p:nvSpPr>
        <p:spPr>
          <a:xfrm>
            <a:off x="199448" y="2376360"/>
            <a:ext cx="4405745" cy="1477328"/>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Bikes play a significant role in preventing revenue from being converted into profits, and there is an outlier that needs to be carefully studied.</a:t>
            </a:r>
          </a:p>
        </p:txBody>
      </p:sp>
      <p:pic>
        <p:nvPicPr>
          <p:cNvPr id="9" name="Picture 8" descr="A graph of blue dots&#10;&#10;AI-generated content may be incorrect.">
            <a:extLst>
              <a:ext uri="{FF2B5EF4-FFF2-40B4-BE49-F238E27FC236}">
                <a16:creationId xmlns:a16="http://schemas.microsoft.com/office/drawing/2014/main" id="{8227B141-34EB-5736-985C-36D83EE4B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8352" y="1025814"/>
            <a:ext cx="6934200" cy="4991100"/>
          </a:xfrm>
          <a:prstGeom prst="rect">
            <a:avLst/>
          </a:prstGeom>
        </p:spPr>
      </p:pic>
      <p:sp>
        <p:nvSpPr>
          <p:cNvPr id="11" name="TextBox 10">
            <a:extLst>
              <a:ext uri="{FF2B5EF4-FFF2-40B4-BE49-F238E27FC236}">
                <a16:creationId xmlns:a16="http://schemas.microsoft.com/office/drawing/2014/main" id="{B99D7CAC-29FE-1E80-341E-2DBCDFA8F056}"/>
              </a:ext>
            </a:extLst>
          </p:cNvPr>
          <p:cNvSpPr txBox="1"/>
          <p:nvPr/>
        </p:nvSpPr>
        <p:spPr>
          <a:xfrm>
            <a:off x="199448" y="4240503"/>
            <a:ext cx="4289425"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The problem is likely due to the price or cost being too high so far.</a:t>
            </a:r>
          </a:p>
        </p:txBody>
      </p:sp>
      <p:sp>
        <p:nvSpPr>
          <p:cNvPr id="14" name="TextBox 13">
            <a:extLst>
              <a:ext uri="{FF2B5EF4-FFF2-40B4-BE49-F238E27FC236}">
                <a16:creationId xmlns:a16="http://schemas.microsoft.com/office/drawing/2014/main" id="{A9296616-6FB5-462C-4F4F-758086216AB6}"/>
              </a:ext>
            </a:extLst>
          </p:cNvPr>
          <p:cNvSpPr txBox="1"/>
          <p:nvPr/>
        </p:nvSpPr>
        <p:spPr>
          <a:xfrm>
            <a:off x="10375009" y="641031"/>
            <a:ext cx="1246908" cy="400110"/>
          </a:xfrm>
          <a:prstGeom prst="rect">
            <a:avLst/>
          </a:prstGeom>
          <a:noFill/>
        </p:spPr>
        <p:txBody>
          <a:bodyPr wrap="square">
            <a:spAutoFit/>
          </a:bodyPr>
          <a:lstStyle/>
          <a:p>
            <a:r>
              <a:rPr lang="en-US" sz="2000" dirty="0">
                <a:solidFill>
                  <a:schemeClr val="accent2"/>
                </a:solidFill>
              </a:rPr>
              <a:t>Products</a:t>
            </a:r>
          </a:p>
        </p:txBody>
      </p:sp>
      <p:cxnSp>
        <p:nvCxnSpPr>
          <p:cNvPr id="15" name="Straight Arrow Connector 14">
            <a:extLst>
              <a:ext uri="{FF2B5EF4-FFF2-40B4-BE49-F238E27FC236}">
                <a16:creationId xmlns:a16="http://schemas.microsoft.com/office/drawing/2014/main" id="{CCCC4BE5-13A0-1F99-3E98-47CA80F9D468}"/>
              </a:ext>
            </a:extLst>
          </p:cNvPr>
          <p:cNvCxnSpPr>
            <a:cxnSpLocks/>
          </p:cNvCxnSpPr>
          <p:nvPr/>
        </p:nvCxnSpPr>
        <p:spPr>
          <a:xfrm flipH="1">
            <a:off x="9266646" y="964683"/>
            <a:ext cx="1108363" cy="46124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D18006D-8D15-67C2-1117-D5EA7F12430F}"/>
              </a:ext>
            </a:extLst>
          </p:cNvPr>
          <p:cNvSpPr txBox="1"/>
          <p:nvPr/>
        </p:nvSpPr>
        <p:spPr>
          <a:xfrm>
            <a:off x="5004869" y="309888"/>
            <a:ext cx="2035175" cy="400110"/>
          </a:xfrm>
          <a:prstGeom prst="rect">
            <a:avLst/>
          </a:prstGeom>
          <a:noFill/>
        </p:spPr>
        <p:txBody>
          <a:bodyPr wrap="square">
            <a:spAutoFit/>
          </a:bodyPr>
          <a:lstStyle/>
          <a:p>
            <a:r>
              <a:rPr lang="en-US" sz="2000" dirty="0">
                <a:solidFill>
                  <a:schemeClr val="accent2"/>
                </a:solidFill>
              </a:rPr>
              <a:t>Segments</a:t>
            </a:r>
          </a:p>
        </p:txBody>
      </p:sp>
      <p:cxnSp>
        <p:nvCxnSpPr>
          <p:cNvPr id="19" name="Straight Arrow Connector 18">
            <a:extLst>
              <a:ext uri="{FF2B5EF4-FFF2-40B4-BE49-F238E27FC236}">
                <a16:creationId xmlns:a16="http://schemas.microsoft.com/office/drawing/2014/main" id="{A6E2CEDF-9732-71C5-A1E8-C8F4C96990C8}"/>
              </a:ext>
            </a:extLst>
          </p:cNvPr>
          <p:cNvCxnSpPr>
            <a:cxnSpLocks/>
          </p:cNvCxnSpPr>
          <p:nvPr/>
        </p:nvCxnSpPr>
        <p:spPr>
          <a:xfrm>
            <a:off x="5620180" y="709998"/>
            <a:ext cx="0" cy="342779"/>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8C1669D-05A8-EEF7-5AED-1CA7ED2CF949}"/>
              </a:ext>
            </a:extLst>
          </p:cNvPr>
          <p:cNvCxnSpPr>
            <a:cxnSpLocks/>
          </p:cNvCxnSpPr>
          <p:nvPr/>
        </p:nvCxnSpPr>
        <p:spPr>
          <a:xfrm>
            <a:off x="18473" y="2290618"/>
            <a:ext cx="0" cy="279861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C820F52-2611-579E-11BA-F723C21B8E29}"/>
              </a:ext>
            </a:extLst>
          </p:cNvPr>
          <p:cNvCxnSpPr>
            <a:cxnSpLocks/>
            <a:stCxn id="18" idx="1"/>
            <a:endCxn id="18" idx="1"/>
          </p:cNvCxnSpPr>
          <p:nvPr/>
        </p:nvCxnSpPr>
        <p:spPr>
          <a:xfrm>
            <a:off x="5004869" y="509943"/>
            <a:ext cx="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1065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FB891CA-7223-4C59-4EF3-A57949EF6B2F}"/>
              </a:ext>
            </a:extLst>
          </p:cNvPr>
          <p:cNvSpPr txBox="1"/>
          <p:nvPr/>
        </p:nvSpPr>
        <p:spPr>
          <a:xfrm>
            <a:off x="175491" y="1972025"/>
            <a:ext cx="6096000" cy="400110"/>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bg1"/>
                </a:solidFill>
              </a:rPr>
              <a:t>Bikes products contribute the most to the losses</a:t>
            </a:r>
          </a:p>
        </p:txBody>
      </p:sp>
      <p:pic>
        <p:nvPicPr>
          <p:cNvPr id="9" name="Picture 8" descr="A table with numbers and text&#10;&#10;AI-generated content may be incorrect.">
            <a:extLst>
              <a:ext uri="{FF2B5EF4-FFF2-40B4-BE49-F238E27FC236}">
                <a16:creationId xmlns:a16="http://schemas.microsoft.com/office/drawing/2014/main" id="{7323B3BB-12CF-EEFF-D515-F7E1D4E80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5745" y="357909"/>
            <a:ext cx="4823664" cy="6142181"/>
          </a:xfrm>
          <a:prstGeom prst="rect">
            <a:avLst/>
          </a:prstGeom>
        </p:spPr>
      </p:pic>
      <p:sp>
        <p:nvSpPr>
          <p:cNvPr id="11" name="TextBox 10">
            <a:extLst>
              <a:ext uri="{FF2B5EF4-FFF2-40B4-BE49-F238E27FC236}">
                <a16:creationId xmlns:a16="http://schemas.microsoft.com/office/drawing/2014/main" id="{2CE97175-7172-9481-7C3A-7FD082867AA2}"/>
              </a:ext>
            </a:extLst>
          </p:cNvPr>
          <p:cNvSpPr txBox="1"/>
          <p:nvPr/>
        </p:nvSpPr>
        <p:spPr>
          <a:xfrm>
            <a:off x="175491" y="2692507"/>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The major problem is that Bikes contribute the most to sales, around 85%.</a:t>
            </a:r>
          </a:p>
        </p:txBody>
      </p:sp>
      <p:sp>
        <p:nvSpPr>
          <p:cNvPr id="13" name="TextBox 12">
            <a:extLst>
              <a:ext uri="{FF2B5EF4-FFF2-40B4-BE49-F238E27FC236}">
                <a16:creationId xmlns:a16="http://schemas.microsoft.com/office/drawing/2014/main" id="{A1E4E004-7964-00CC-8D0E-E79AC06963C5}"/>
              </a:ext>
            </a:extLst>
          </p:cNvPr>
          <p:cNvSpPr txBox="1"/>
          <p:nvPr/>
        </p:nvSpPr>
        <p:spPr>
          <a:xfrm>
            <a:off x="175491" y="3659210"/>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Are the most sought-after colors the ones that lose the most, or is the problem that the low prices are what makes these colors in demand?</a:t>
            </a:r>
          </a:p>
        </p:txBody>
      </p:sp>
      <p:sp>
        <p:nvSpPr>
          <p:cNvPr id="15" name="TextBox 14">
            <a:extLst>
              <a:ext uri="{FF2B5EF4-FFF2-40B4-BE49-F238E27FC236}">
                <a16:creationId xmlns:a16="http://schemas.microsoft.com/office/drawing/2014/main" id="{C70B87AE-097F-B15C-83E7-EA305192938E}"/>
              </a:ext>
            </a:extLst>
          </p:cNvPr>
          <p:cNvSpPr txBox="1"/>
          <p:nvPr/>
        </p:nvSpPr>
        <p:spPr>
          <a:xfrm>
            <a:off x="316319" y="5897540"/>
            <a:ext cx="5052292" cy="738664"/>
          </a:xfrm>
          <a:prstGeom prst="rect">
            <a:avLst/>
          </a:prstGeom>
          <a:noFill/>
        </p:spPr>
        <p:txBody>
          <a:bodyPr wrap="square">
            <a:spAutoFit/>
          </a:bodyPr>
          <a:lstStyle/>
          <a:p>
            <a:r>
              <a:rPr lang="en-US" sz="2400" b="1" dirty="0">
                <a:solidFill>
                  <a:srgbClr val="C00000"/>
                </a:solidFill>
              </a:rPr>
              <a:t>Note :  </a:t>
            </a:r>
            <a:r>
              <a:rPr lang="en-US" dirty="0">
                <a:solidFill>
                  <a:schemeClr val="bg1"/>
                </a:solidFill>
              </a:rPr>
              <a:t>These elements are filtered to Losses starting from “-1000”</a:t>
            </a:r>
          </a:p>
        </p:txBody>
      </p:sp>
    </p:spTree>
    <p:extLst>
      <p:ext uri="{BB962C8B-B14F-4D97-AF65-F5344CB8AC3E}">
        <p14:creationId xmlns:p14="http://schemas.microsoft.com/office/powerpoint/2010/main" val="676410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4AF720-04C8-5450-A45C-6175C6A2FA9E}"/>
              </a:ext>
            </a:extLst>
          </p:cNvPr>
          <p:cNvSpPr txBox="1"/>
          <p:nvPr/>
        </p:nvSpPr>
        <p:spPr>
          <a:xfrm>
            <a:off x="3412284" y="2598003"/>
            <a:ext cx="4608946" cy="830997"/>
          </a:xfrm>
          <a:prstGeom prst="rect">
            <a:avLst/>
          </a:prstGeom>
          <a:noFill/>
        </p:spPr>
        <p:txBody>
          <a:bodyPr wrap="square">
            <a:spAutoFit/>
          </a:bodyPr>
          <a:lstStyle/>
          <a:p>
            <a:r>
              <a:rPr lang="en-US" sz="4800" b="1" dirty="0">
                <a:solidFill>
                  <a:schemeClr val="bg1"/>
                </a:solidFill>
              </a:rPr>
              <a:t>5- Hidden Risk</a:t>
            </a:r>
          </a:p>
        </p:txBody>
      </p:sp>
      <p:pic>
        <p:nvPicPr>
          <p:cNvPr id="5" name="Graphic 4" descr="Research with solid fill">
            <a:extLst>
              <a:ext uri="{FF2B5EF4-FFF2-40B4-BE49-F238E27FC236}">
                <a16:creationId xmlns:a16="http://schemas.microsoft.com/office/drawing/2014/main" id="{EB1C4C54-8FB2-4C66-BE40-C6DECA185DB1}"/>
              </a:ext>
            </a:extLst>
          </p:cNvPr>
          <p:cNvPicPr/>
          <p:nvPr/>
        </p:nvPicPr>
        <p:blipFill>
          <a:blip r:embed="rId2">
            <a:extLst>
              <a:ext uri="{96DAC541-7B7A-43D3-8B79-37D633B846F1}">
                <asvg:svgBlip xmlns:asvg="http://schemas.microsoft.com/office/drawing/2016/SVG/main" r:embed="rId3"/>
              </a:ext>
            </a:extLst>
          </a:blip>
          <a:stretch>
            <a:fillRect/>
          </a:stretch>
        </p:blipFill>
        <p:spPr>
          <a:xfrm>
            <a:off x="7666182" y="2625711"/>
            <a:ext cx="710097" cy="695249"/>
          </a:xfrm>
          <a:prstGeom prst="rect">
            <a:avLst/>
          </a:prstGeom>
        </p:spPr>
      </p:pic>
      <p:sp>
        <p:nvSpPr>
          <p:cNvPr id="7" name="TextBox 6">
            <a:extLst>
              <a:ext uri="{FF2B5EF4-FFF2-40B4-BE49-F238E27FC236}">
                <a16:creationId xmlns:a16="http://schemas.microsoft.com/office/drawing/2014/main" id="{C62E425D-6684-A383-9577-A265347C489A}"/>
              </a:ext>
            </a:extLst>
          </p:cNvPr>
          <p:cNvSpPr txBox="1"/>
          <p:nvPr/>
        </p:nvSpPr>
        <p:spPr>
          <a:xfrm>
            <a:off x="1782618" y="3865480"/>
            <a:ext cx="10067636" cy="523220"/>
          </a:xfrm>
          <a:prstGeom prst="rect">
            <a:avLst/>
          </a:prstGeom>
          <a:noFill/>
        </p:spPr>
        <p:txBody>
          <a:bodyPr wrap="square">
            <a:spAutoFit/>
          </a:bodyPr>
          <a:lstStyle/>
          <a:p>
            <a:r>
              <a:rPr lang="en-US" sz="2800" dirty="0">
                <a:solidFill>
                  <a:schemeClr val="bg1"/>
                </a:solidFill>
              </a:rPr>
              <a:t>Which high-selling products are actually unprofitable?</a:t>
            </a:r>
            <a:endParaRPr lang="en-US" sz="2800" dirty="0"/>
          </a:p>
        </p:txBody>
      </p:sp>
    </p:spTree>
    <p:extLst>
      <p:ext uri="{BB962C8B-B14F-4D97-AF65-F5344CB8AC3E}">
        <p14:creationId xmlns:p14="http://schemas.microsoft.com/office/powerpoint/2010/main" val="323997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9568B6-F3F4-09F9-0C91-A789CD11E566}"/>
              </a:ext>
            </a:extLst>
          </p:cNvPr>
          <p:cNvSpPr txBox="1"/>
          <p:nvPr/>
        </p:nvSpPr>
        <p:spPr>
          <a:xfrm>
            <a:off x="2978727" y="2305615"/>
            <a:ext cx="6640945" cy="2246769"/>
          </a:xfrm>
          <a:prstGeom prst="rect">
            <a:avLst/>
          </a:prstGeom>
          <a:noFill/>
        </p:spPr>
        <p:txBody>
          <a:bodyPr wrap="square">
            <a:spAutoFit/>
          </a:bodyPr>
          <a:lstStyle/>
          <a:p>
            <a:r>
              <a:rPr lang="en-US" sz="2800" dirty="0">
                <a:solidFill>
                  <a:schemeClr val="bg1"/>
                </a:solidFill>
              </a:rPr>
              <a:t>In the previous slide, we focused on products that were generally unprofitable, but here we will try to find out if there are products that are sold in large quantities but are not profitable.</a:t>
            </a:r>
          </a:p>
        </p:txBody>
      </p:sp>
    </p:spTree>
    <p:extLst>
      <p:ext uri="{BB962C8B-B14F-4D97-AF65-F5344CB8AC3E}">
        <p14:creationId xmlns:p14="http://schemas.microsoft.com/office/powerpoint/2010/main" val="1460537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33FF20-4514-2F01-C8C0-D842079F4DFF}"/>
              </a:ext>
            </a:extLst>
          </p:cNvPr>
          <p:cNvSpPr/>
          <p:nvPr/>
        </p:nvSpPr>
        <p:spPr>
          <a:xfrm>
            <a:off x="175492" y="120073"/>
            <a:ext cx="11822544" cy="4257963"/>
          </a:xfrm>
          <a:prstGeom prst="rect">
            <a:avLst/>
          </a:prstGeom>
          <a:gradFill>
            <a:gsLst>
              <a:gs pos="0">
                <a:schemeClr val="accent1">
                  <a:lumMod val="5000"/>
                  <a:lumOff val="95000"/>
                </a:schemeClr>
              </a:gs>
              <a:gs pos="100000">
                <a:schemeClr val="tx1">
                  <a:lumMod val="50000"/>
                  <a:lumOff val="50000"/>
                </a:schemeClr>
              </a:gs>
              <a:gs pos="0">
                <a:schemeClr val="accent1">
                  <a:lumMod val="45000"/>
                  <a:lumOff val="55000"/>
                </a:schemeClr>
              </a:gs>
              <a:gs pos="100000">
                <a:srgbClr val="548298"/>
              </a:gs>
              <a:gs pos="0">
                <a:schemeClr val="tx1">
                  <a:lumMod val="85000"/>
                  <a:lumOff val="15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163CA14-8E64-28EF-57E8-96863BCA6153}"/>
              </a:ext>
            </a:extLst>
          </p:cNvPr>
          <p:cNvSpPr/>
          <p:nvPr/>
        </p:nvSpPr>
        <p:spPr>
          <a:xfrm>
            <a:off x="424873" y="406394"/>
            <a:ext cx="11305309" cy="3759201"/>
          </a:xfrm>
          <a:prstGeom prst="rect">
            <a:avLst/>
          </a:prstGeom>
          <a:solidFill>
            <a:srgbClr val="11182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2655E12-726A-C2F6-D0FF-8196EB6DEC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28" y="723449"/>
            <a:ext cx="1895475" cy="3211238"/>
          </a:xfrm>
          <a:prstGeom prst="rect">
            <a:avLst/>
          </a:prstGeom>
        </p:spPr>
      </p:pic>
      <p:pic>
        <p:nvPicPr>
          <p:cNvPr id="12" name="Picture 11">
            <a:extLst>
              <a:ext uri="{FF2B5EF4-FFF2-40B4-BE49-F238E27FC236}">
                <a16:creationId xmlns:a16="http://schemas.microsoft.com/office/drawing/2014/main" id="{F1908C1B-6F43-9FB1-34A2-35852804F7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8307" y="718830"/>
            <a:ext cx="1895476" cy="3197386"/>
          </a:xfrm>
          <a:prstGeom prst="rect">
            <a:avLst/>
          </a:prstGeom>
        </p:spPr>
      </p:pic>
      <p:sp>
        <p:nvSpPr>
          <p:cNvPr id="17" name="TextBox 16">
            <a:extLst>
              <a:ext uri="{FF2B5EF4-FFF2-40B4-BE49-F238E27FC236}">
                <a16:creationId xmlns:a16="http://schemas.microsoft.com/office/drawing/2014/main" id="{698D3F03-C45B-E41D-3137-95CC041B4F92}"/>
              </a:ext>
            </a:extLst>
          </p:cNvPr>
          <p:cNvSpPr txBox="1"/>
          <p:nvPr/>
        </p:nvSpPr>
        <p:spPr>
          <a:xfrm>
            <a:off x="5070764" y="398743"/>
            <a:ext cx="2179782" cy="338554"/>
          </a:xfrm>
          <a:prstGeom prst="rect">
            <a:avLst/>
          </a:prstGeom>
          <a:noFill/>
        </p:spPr>
        <p:txBody>
          <a:bodyPr wrap="square">
            <a:spAutoFit/>
          </a:bodyPr>
          <a:lstStyle/>
          <a:p>
            <a:r>
              <a:rPr lang="en-US" sz="1600" b="1" dirty="0">
                <a:solidFill>
                  <a:schemeClr val="accent2"/>
                </a:solidFill>
              </a:rPr>
              <a:t>subcategory loss</a:t>
            </a:r>
          </a:p>
        </p:txBody>
      </p:sp>
      <p:sp>
        <p:nvSpPr>
          <p:cNvPr id="18" name="TextBox 17">
            <a:extLst>
              <a:ext uri="{FF2B5EF4-FFF2-40B4-BE49-F238E27FC236}">
                <a16:creationId xmlns:a16="http://schemas.microsoft.com/office/drawing/2014/main" id="{3B99D8D7-186D-1215-5C38-1138C6953489}"/>
              </a:ext>
            </a:extLst>
          </p:cNvPr>
          <p:cNvSpPr txBox="1"/>
          <p:nvPr/>
        </p:nvSpPr>
        <p:spPr>
          <a:xfrm>
            <a:off x="1004167" y="381070"/>
            <a:ext cx="1895475" cy="338554"/>
          </a:xfrm>
          <a:prstGeom prst="rect">
            <a:avLst/>
          </a:prstGeom>
          <a:noFill/>
        </p:spPr>
        <p:txBody>
          <a:bodyPr wrap="square">
            <a:spAutoFit/>
          </a:bodyPr>
          <a:lstStyle/>
          <a:p>
            <a:r>
              <a:rPr lang="en-US" sz="1600" b="1" dirty="0">
                <a:solidFill>
                  <a:schemeClr val="accent2"/>
                </a:solidFill>
              </a:rPr>
              <a:t>Lost total sales</a:t>
            </a:r>
          </a:p>
        </p:txBody>
      </p:sp>
      <p:sp>
        <p:nvSpPr>
          <p:cNvPr id="19" name="TextBox 18">
            <a:extLst>
              <a:ext uri="{FF2B5EF4-FFF2-40B4-BE49-F238E27FC236}">
                <a16:creationId xmlns:a16="http://schemas.microsoft.com/office/drawing/2014/main" id="{E40469CB-4194-0185-F1A5-D2195E1C49B4}"/>
              </a:ext>
            </a:extLst>
          </p:cNvPr>
          <p:cNvSpPr txBox="1"/>
          <p:nvPr/>
        </p:nvSpPr>
        <p:spPr>
          <a:xfrm>
            <a:off x="9421668" y="398743"/>
            <a:ext cx="1895475" cy="338554"/>
          </a:xfrm>
          <a:prstGeom prst="rect">
            <a:avLst/>
          </a:prstGeom>
          <a:noFill/>
        </p:spPr>
        <p:txBody>
          <a:bodyPr wrap="square">
            <a:spAutoFit/>
          </a:bodyPr>
          <a:lstStyle/>
          <a:p>
            <a:r>
              <a:rPr lang="en-US" sz="1600" b="1" dirty="0">
                <a:solidFill>
                  <a:schemeClr val="accent2"/>
                </a:solidFill>
              </a:rPr>
              <a:t>Lost total quantity</a:t>
            </a:r>
          </a:p>
        </p:txBody>
      </p:sp>
      <p:pic>
        <p:nvPicPr>
          <p:cNvPr id="21" name="Picture 20" descr="A blue and white text on a black background&#10;&#10;AI-generated content may be incorrect.">
            <a:extLst>
              <a:ext uri="{FF2B5EF4-FFF2-40B4-BE49-F238E27FC236}">
                <a16:creationId xmlns:a16="http://schemas.microsoft.com/office/drawing/2014/main" id="{B41012C4-3157-6DC6-D74F-170CB915B8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4873" y="743455"/>
            <a:ext cx="6083445" cy="3163524"/>
          </a:xfrm>
          <a:prstGeom prst="rect">
            <a:avLst/>
          </a:prstGeom>
        </p:spPr>
      </p:pic>
      <p:sp>
        <p:nvSpPr>
          <p:cNvPr id="3" name="TextBox 2">
            <a:extLst>
              <a:ext uri="{FF2B5EF4-FFF2-40B4-BE49-F238E27FC236}">
                <a16:creationId xmlns:a16="http://schemas.microsoft.com/office/drawing/2014/main" id="{837ED1BA-CD30-02DB-99B4-A2E78CFEC9CB}"/>
              </a:ext>
            </a:extLst>
          </p:cNvPr>
          <p:cNvSpPr txBox="1"/>
          <p:nvPr/>
        </p:nvSpPr>
        <p:spPr>
          <a:xfrm>
            <a:off x="175492" y="4715097"/>
            <a:ext cx="11154678" cy="1200329"/>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Road bikes and touring bikes contribute to overall losses over the years, but their numbers are decreasing annually, a good indicator of recovery. Caps and jersey bikes, however, haven't been successful over the past four years, but they haven't suffered significant losses either. They alternate between gains and losses, resulting in a balance.</a:t>
            </a:r>
          </a:p>
        </p:txBody>
      </p:sp>
      <p:sp>
        <p:nvSpPr>
          <p:cNvPr id="5" name="TextBox 4">
            <a:extLst>
              <a:ext uri="{FF2B5EF4-FFF2-40B4-BE49-F238E27FC236}">
                <a16:creationId xmlns:a16="http://schemas.microsoft.com/office/drawing/2014/main" id="{A789B659-B96B-9C0D-78C0-E28731891A88}"/>
              </a:ext>
            </a:extLst>
          </p:cNvPr>
          <p:cNvSpPr txBox="1"/>
          <p:nvPr/>
        </p:nvSpPr>
        <p:spPr>
          <a:xfrm>
            <a:off x="171629" y="6368595"/>
            <a:ext cx="6097424" cy="369332"/>
          </a:xfrm>
          <a:prstGeom prst="rect">
            <a:avLst/>
          </a:prstGeom>
          <a:noFill/>
        </p:spPr>
        <p:txBody>
          <a:bodyPr wrap="square">
            <a:spAutoFit/>
          </a:bodyPr>
          <a:lstStyle/>
          <a:p>
            <a:r>
              <a:rPr lang="en-US" b="1" dirty="0">
                <a:solidFill>
                  <a:srgbClr val="C00000"/>
                </a:solidFill>
              </a:rPr>
              <a:t>This data shows the loss for all four years combined.</a:t>
            </a:r>
          </a:p>
        </p:txBody>
      </p:sp>
    </p:spTree>
    <p:extLst>
      <p:ext uri="{BB962C8B-B14F-4D97-AF65-F5344CB8AC3E}">
        <p14:creationId xmlns:p14="http://schemas.microsoft.com/office/powerpoint/2010/main" val="1623924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09CEC-C201-A624-AA10-BD470190305C}"/>
              </a:ext>
            </a:extLst>
          </p:cNvPr>
          <p:cNvSpPr txBox="1"/>
          <p:nvPr/>
        </p:nvSpPr>
        <p:spPr>
          <a:xfrm>
            <a:off x="3053250" y="2488507"/>
            <a:ext cx="5065513" cy="769441"/>
          </a:xfrm>
          <a:prstGeom prst="rect">
            <a:avLst/>
          </a:prstGeom>
          <a:noFill/>
        </p:spPr>
        <p:txBody>
          <a:bodyPr wrap="square">
            <a:spAutoFit/>
          </a:bodyPr>
          <a:lstStyle/>
          <a:p>
            <a:r>
              <a:rPr lang="en-US" sz="4400" b="1" dirty="0">
                <a:solidFill>
                  <a:schemeClr val="bg1"/>
                </a:solidFill>
              </a:rPr>
              <a:t>6- What-If Scenario</a:t>
            </a:r>
          </a:p>
        </p:txBody>
      </p:sp>
      <p:pic>
        <p:nvPicPr>
          <p:cNvPr id="5" name="Graphic 4" descr="Tools with solid fill">
            <a:extLst>
              <a:ext uri="{FF2B5EF4-FFF2-40B4-BE49-F238E27FC236}">
                <a16:creationId xmlns:a16="http://schemas.microsoft.com/office/drawing/2014/main" id="{B9F51E2F-C9BB-9B0C-2C86-615C1790F393}"/>
              </a:ext>
            </a:extLst>
          </p:cNvPr>
          <p:cNvPicPr/>
          <p:nvPr/>
        </p:nvPicPr>
        <p:blipFill>
          <a:blip r:embed="rId2">
            <a:extLst>
              <a:ext uri="{96DAC541-7B7A-43D3-8B79-37D633B846F1}">
                <asvg:svgBlip xmlns:asvg="http://schemas.microsoft.com/office/drawing/2016/SVG/main" r:embed="rId3"/>
              </a:ext>
            </a:extLst>
          </a:blip>
          <a:stretch>
            <a:fillRect/>
          </a:stretch>
        </p:blipFill>
        <p:spPr>
          <a:xfrm>
            <a:off x="8118763" y="2534687"/>
            <a:ext cx="689831" cy="625181"/>
          </a:xfrm>
          <a:prstGeom prst="rect">
            <a:avLst/>
          </a:prstGeom>
        </p:spPr>
      </p:pic>
      <p:sp>
        <p:nvSpPr>
          <p:cNvPr id="7" name="TextBox 6">
            <a:extLst>
              <a:ext uri="{FF2B5EF4-FFF2-40B4-BE49-F238E27FC236}">
                <a16:creationId xmlns:a16="http://schemas.microsoft.com/office/drawing/2014/main" id="{2B39851D-7A3F-1995-4041-83AC6B50E143}"/>
              </a:ext>
            </a:extLst>
          </p:cNvPr>
          <p:cNvSpPr txBox="1"/>
          <p:nvPr/>
        </p:nvSpPr>
        <p:spPr>
          <a:xfrm>
            <a:off x="1801091" y="3698133"/>
            <a:ext cx="9541163" cy="584775"/>
          </a:xfrm>
          <a:prstGeom prst="rect">
            <a:avLst/>
          </a:prstGeom>
          <a:noFill/>
        </p:spPr>
        <p:txBody>
          <a:bodyPr wrap="square">
            <a:spAutoFit/>
          </a:bodyPr>
          <a:lstStyle/>
          <a:p>
            <a:r>
              <a:rPr lang="en-US" sz="3200" dirty="0">
                <a:solidFill>
                  <a:schemeClr val="bg1"/>
                </a:solidFill>
              </a:rPr>
              <a:t>Can pricing adjustments recover profitability?</a:t>
            </a:r>
            <a:endParaRPr lang="en-US" sz="3200" dirty="0"/>
          </a:p>
        </p:txBody>
      </p:sp>
    </p:spTree>
    <p:extLst>
      <p:ext uri="{BB962C8B-B14F-4D97-AF65-F5344CB8AC3E}">
        <p14:creationId xmlns:p14="http://schemas.microsoft.com/office/powerpoint/2010/main" val="246551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 calcmode="lin" valueType="num">
                                      <p:cBhvr additive="base">
                                        <p:cTn id="2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 calcmode="lin" valueType="num">
                                      <p:cBhvr>
                                        <p:cTn id="29"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30"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31"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32"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F78488-C5D0-F3A4-76F0-8B0A7F43946A}"/>
              </a:ext>
            </a:extLst>
          </p:cNvPr>
          <p:cNvSpPr txBox="1"/>
          <p:nvPr/>
        </p:nvSpPr>
        <p:spPr>
          <a:xfrm>
            <a:off x="1574800" y="2274838"/>
            <a:ext cx="9042400" cy="2308324"/>
          </a:xfrm>
          <a:prstGeom prst="rect">
            <a:avLst/>
          </a:prstGeom>
          <a:noFill/>
        </p:spPr>
        <p:txBody>
          <a:bodyPr wrap="square">
            <a:spAutoFit/>
          </a:bodyPr>
          <a:lstStyle/>
          <a:p>
            <a:r>
              <a:rPr lang="en-US" sz="3600" dirty="0">
                <a:solidFill>
                  <a:schemeClr val="bg1"/>
                </a:solidFill>
              </a:rPr>
              <a:t>In this scenario, we will not focus on all past years, but rather on the current year, and see if, by increasing the price each time, we will achieve a noticeable recovery.</a:t>
            </a:r>
          </a:p>
        </p:txBody>
      </p:sp>
    </p:spTree>
    <p:extLst>
      <p:ext uri="{BB962C8B-B14F-4D97-AF65-F5344CB8AC3E}">
        <p14:creationId xmlns:p14="http://schemas.microsoft.com/office/powerpoint/2010/main" val="2481169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5" name="Picture 4" descr="A graph with text on it&#10;&#10;AI-generated content may be incorrect.">
            <a:extLst>
              <a:ext uri="{FF2B5EF4-FFF2-40B4-BE49-F238E27FC236}">
                <a16:creationId xmlns:a16="http://schemas.microsoft.com/office/drawing/2014/main" id="{FF78C64D-CBDD-DFB5-5B1F-6EE5E9C33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7018" y="777527"/>
            <a:ext cx="6660139" cy="5302945"/>
          </a:xfrm>
          <a:prstGeom prst="rect">
            <a:avLst/>
          </a:prstGeom>
        </p:spPr>
      </p:pic>
      <p:sp>
        <p:nvSpPr>
          <p:cNvPr id="6" name="Rectangle: Rounded Corners 5">
            <a:extLst>
              <a:ext uri="{FF2B5EF4-FFF2-40B4-BE49-F238E27FC236}">
                <a16:creationId xmlns:a16="http://schemas.microsoft.com/office/drawing/2014/main" id="{7239DFB2-7111-9C03-BCB5-B47AE166515F}"/>
              </a:ext>
            </a:extLst>
          </p:cNvPr>
          <p:cNvSpPr/>
          <p:nvPr/>
        </p:nvSpPr>
        <p:spPr>
          <a:xfrm>
            <a:off x="7813963" y="92365"/>
            <a:ext cx="2059710" cy="685162"/>
          </a:xfrm>
          <a:prstGeom prst="roundRect">
            <a:avLst/>
          </a:prstGeom>
          <a:solidFill>
            <a:srgbClr val="2E3E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400" b="1" dirty="0"/>
              <a:t>19</a:t>
            </a:r>
            <a:r>
              <a:rPr lang="en-US" sz="2400" b="1" dirty="0"/>
              <a:t>k</a:t>
            </a:r>
          </a:p>
          <a:p>
            <a:pPr algn="ctr"/>
            <a:r>
              <a:rPr lang="en-US" b="1" dirty="0">
                <a:solidFill>
                  <a:srgbClr val="C00000"/>
                </a:solidFill>
              </a:rPr>
              <a:t>Total Loss</a:t>
            </a:r>
          </a:p>
        </p:txBody>
      </p:sp>
      <p:sp>
        <p:nvSpPr>
          <p:cNvPr id="8" name="TextBox 7">
            <a:extLst>
              <a:ext uri="{FF2B5EF4-FFF2-40B4-BE49-F238E27FC236}">
                <a16:creationId xmlns:a16="http://schemas.microsoft.com/office/drawing/2014/main" id="{D5678C4B-3201-24CD-91B1-5C6FFA43F2E7}"/>
              </a:ext>
            </a:extLst>
          </p:cNvPr>
          <p:cNvSpPr txBox="1"/>
          <p:nvPr/>
        </p:nvSpPr>
        <p:spPr>
          <a:xfrm>
            <a:off x="294843" y="1223879"/>
            <a:ext cx="6096000" cy="523220"/>
          </a:xfrm>
          <a:prstGeom prst="rect">
            <a:avLst/>
          </a:prstGeom>
          <a:noFill/>
        </p:spPr>
        <p:txBody>
          <a:bodyPr wrap="square">
            <a:spAutoFit/>
          </a:bodyPr>
          <a:lstStyle/>
          <a:p>
            <a:r>
              <a:rPr lang="en-US" sz="2800" b="1" dirty="0">
                <a:solidFill>
                  <a:schemeClr val="bg1"/>
                </a:solidFill>
              </a:rPr>
              <a:t>losses this year</a:t>
            </a:r>
          </a:p>
        </p:txBody>
      </p:sp>
      <p:sp>
        <p:nvSpPr>
          <p:cNvPr id="9" name="Minus Sign 8">
            <a:extLst>
              <a:ext uri="{FF2B5EF4-FFF2-40B4-BE49-F238E27FC236}">
                <a16:creationId xmlns:a16="http://schemas.microsoft.com/office/drawing/2014/main" id="{504DF83F-535F-6654-CC8B-325CC3F3E738}"/>
              </a:ext>
            </a:extLst>
          </p:cNvPr>
          <p:cNvSpPr/>
          <p:nvPr/>
        </p:nvSpPr>
        <p:spPr>
          <a:xfrm rot="5400000">
            <a:off x="-92365" y="1316243"/>
            <a:ext cx="523222" cy="338493"/>
          </a:xfrm>
          <a:prstGeom prst="mathMinus">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8851125-3E96-2ABB-3FB9-73D0626E8FD0}"/>
              </a:ext>
            </a:extLst>
          </p:cNvPr>
          <p:cNvSpPr txBox="1"/>
          <p:nvPr/>
        </p:nvSpPr>
        <p:spPr>
          <a:xfrm>
            <a:off x="294843" y="3105833"/>
            <a:ext cx="4507345" cy="646331"/>
          </a:xfrm>
          <a:prstGeom prst="rect">
            <a:avLst/>
          </a:prstGeom>
          <a:noFill/>
        </p:spPr>
        <p:txBody>
          <a:bodyPr wrap="square">
            <a:spAutoFit/>
          </a:bodyPr>
          <a:lstStyle/>
          <a:p>
            <a:pPr marL="285750" indent="-285750">
              <a:buFont typeface="Arial" panose="020B0604020202020204" pitchFamily="34" charset="0"/>
              <a:buChar char="•"/>
            </a:pPr>
            <a:r>
              <a:rPr lang="en-US" b="1" dirty="0">
                <a:solidFill>
                  <a:schemeClr val="bg1"/>
                </a:solidFill>
              </a:rPr>
              <a:t>Here we present the losses for this year before the manipulation</a:t>
            </a:r>
          </a:p>
        </p:txBody>
      </p:sp>
      <p:cxnSp>
        <p:nvCxnSpPr>
          <p:cNvPr id="12" name="Straight Connector 11">
            <a:extLst>
              <a:ext uri="{FF2B5EF4-FFF2-40B4-BE49-F238E27FC236}">
                <a16:creationId xmlns:a16="http://schemas.microsoft.com/office/drawing/2014/main" id="{9DCBB689-B2BC-A519-C164-2A5810ED0AE5}"/>
              </a:ext>
            </a:extLst>
          </p:cNvPr>
          <p:cNvCxnSpPr>
            <a:cxnSpLocks/>
          </p:cNvCxnSpPr>
          <p:nvPr/>
        </p:nvCxnSpPr>
        <p:spPr>
          <a:xfrm>
            <a:off x="0" y="3105833"/>
            <a:ext cx="0" cy="64633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7685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5" name="Picture 4" descr="A graph of different sizes and numbers&#10;&#10;AI-generated content may be incorrect.">
            <a:extLst>
              <a:ext uri="{FF2B5EF4-FFF2-40B4-BE49-F238E27FC236}">
                <a16:creationId xmlns:a16="http://schemas.microsoft.com/office/drawing/2014/main" id="{2BB1B606-9C1F-E03A-A2BA-70E48FBF1E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3200" y="979055"/>
            <a:ext cx="6770687" cy="4920672"/>
          </a:xfrm>
          <a:prstGeom prst="rect">
            <a:avLst/>
          </a:prstGeom>
        </p:spPr>
      </p:pic>
      <p:sp>
        <p:nvSpPr>
          <p:cNvPr id="7" name="TextBox 6">
            <a:extLst>
              <a:ext uri="{FF2B5EF4-FFF2-40B4-BE49-F238E27FC236}">
                <a16:creationId xmlns:a16="http://schemas.microsoft.com/office/drawing/2014/main" id="{F32D0A80-2585-5C85-87AF-C9883B3D842D}"/>
              </a:ext>
            </a:extLst>
          </p:cNvPr>
          <p:cNvSpPr txBox="1"/>
          <p:nvPr/>
        </p:nvSpPr>
        <p:spPr>
          <a:xfrm>
            <a:off x="203200" y="2505669"/>
            <a:ext cx="4876800"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Here I increased the price by 5%, and while some products have recovered, others remain negative despite the increase.</a:t>
            </a:r>
          </a:p>
        </p:txBody>
      </p:sp>
      <p:sp>
        <p:nvSpPr>
          <p:cNvPr id="9" name="TextBox 8">
            <a:extLst>
              <a:ext uri="{FF2B5EF4-FFF2-40B4-BE49-F238E27FC236}">
                <a16:creationId xmlns:a16="http://schemas.microsoft.com/office/drawing/2014/main" id="{C6D84C9F-4E4D-F6AD-84E4-7E920B74B67A}"/>
              </a:ext>
            </a:extLst>
          </p:cNvPr>
          <p:cNvSpPr txBox="1"/>
          <p:nvPr/>
        </p:nvSpPr>
        <p:spPr>
          <a:xfrm>
            <a:off x="203200" y="3847053"/>
            <a:ext cx="4775632"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This means that these products are vital, but they need pricing solutions.</a:t>
            </a:r>
          </a:p>
        </p:txBody>
      </p:sp>
      <p:cxnSp>
        <p:nvCxnSpPr>
          <p:cNvPr id="10" name="Straight Connector 9">
            <a:extLst>
              <a:ext uri="{FF2B5EF4-FFF2-40B4-BE49-F238E27FC236}">
                <a16:creationId xmlns:a16="http://schemas.microsoft.com/office/drawing/2014/main" id="{579F47CD-93BD-0E5E-816E-B6F93C92BF0C}"/>
              </a:ext>
            </a:extLst>
          </p:cNvPr>
          <p:cNvCxnSpPr>
            <a:cxnSpLocks/>
          </p:cNvCxnSpPr>
          <p:nvPr/>
        </p:nvCxnSpPr>
        <p:spPr>
          <a:xfrm>
            <a:off x="0" y="2410691"/>
            <a:ext cx="0" cy="221672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1781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14FE3E-5F01-D9F9-FAED-933390D872E0}"/>
              </a:ext>
            </a:extLst>
          </p:cNvPr>
          <p:cNvSpPr txBox="1"/>
          <p:nvPr/>
        </p:nvSpPr>
        <p:spPr>
          <a:xfrm>
            <a:off x="4445341" y="2505670"/>
            <a:ext cx="3301318" cy="923330"/>
          </a:xfrm>
          <a:prstGeom prst="rect">
            <a:avLst/>
          </a:prstGeom>
          <a:noFill/>
        </p:spPr>
        <p:txBody>
          <a:bodyPr wrap="square">
            <a:spAutoFit/>
          </a:bodyPr>
          <a:lstStyle/>
          <a:p>
            <a:r>
              <a:rPr lang="ar-SA" sz="5400" b="1" dirty="0">
                <a:solidFill>
                  <a:srgbClr val="EAEAEA"/>
                </a:solidFill>
              </a:rPr>
              <a:t> -7</a:t>
            </a:r>
            <a:r>
              <a:rPr lang="en-US" sz="5400" b="1" dirty="0">
                <a:solidFill>
                  <a:srgbClr val="EAEAEA"/>
                </a:solidFill>
              </a:rPr>
              <a:t>Action</a:t>
            </a:r>
          </a:p>
        </p:txBody>
      </p:sp>
      <p:pic>
        <p:nvPicPr>
          <p:cNvPr id="5" name="Graphic 4" descr="Clapper board with solid fill">
            <a:extLst>
              <a:ext uri="{FF2B5EF4-FFF2-40B4-BE49-F238E27FC236}">
                <a16:creationId xmlns:a16="http://schemas.microsoft.com/office/drawing/2014/main" id="{C5911655-87B2-CC3B-490D-1AACC57A5E63}"/>
              </a:ext>
            </a:extLst>
          </p:cNvPr>
          <p:cNvPicPr/>
          <p:nvPr/>
        </p:nvPicPr>
        <p:blipFill>
          <a:blip r:embed="rId2">
            <a:extLst>
              <a:ext uri="{96DAC541-7B7A-43D3-8B79-37D633B846F1}">
                <asvg:svgBlip xmlns:asvg="http://schemas.microsoft.com/office/drawing/2016/SVG/main" r:embed="rId3"/>
              </a:ext>
            </a:extLst>
          </a:blip>
          <a:stretch>
            <a:fillRect/>
          </a:stretch>
        </p:blipFill>
        <p:spPr>
          <a:xfrm>
            <a:off x="7562008" y="2649949"/>
            <a:ext cx="750719" cy="634771"/>
          </a:xfrm>
          <a:prstGeom prst="rect">
            <a:avLst/>
          </a:prstGeom>
        </p:spPr>
      </p:pic>
      <p:sp>
        <p:nvSpPr>
          <p:cNvPr id="7" name="TextBox 6">
            <a:extLst>
              <a:ext uri="{FF2B5EF4-FFF2-40B4-BE49-F238E27FC236}">
                <a16:creationId xmlns:a16="http://schemas.microsoft.com/office/drawing/2014/main" id="{C05CFB3A-3E97-5B2A-467F-A25133D857CB}"/>
              </a:ext>
            </a:extLst>
          </p:cNvPr>
          <p:cNvSpPr txBox="1"/>
          <p:nvPr/>
        </p:nvSpPr>
        <p:spPr>
          <a:xfrm>
            <a:off x="2752436" y="3573279"/>
            <a:ext cx="7490691" cy="584775"/>
          </a:xfrm>
          <a:prstGeom prst="rect">
            <a:avLst/>
          </a:prstGeom>
          <a:noFill/>
        </p:spPr>
        <p:txBody>
          <a:bodyPr wrap="square">
            <a:spAutoFit/>
          </a:bodyPr>
          <a:lstStyle/>
          <a:p>
            <a:r>
              <a:rPr lang="en-US" sz="3200" dirty="0">
                <a:solidFill>
                  <a:schemeClr val="bg1"/>
                </a:solidFill>
              </a:rPr>
              <a:t>What actions should the business take?</a:t>
            </a:r>
            <a:endParaRPr lang="en-US" sz="3200" dirty="0"/>
          </a:p>
        </p:txBody>
      </p:sp>
    </p:spTree>
    <p:extLst>
      <p:ext uri="{BB962C8B-B14F-4D97-AF65-F5344CB8AC3E}">
        <p14:creationId xmlns:p14="http://schemas.microsoft.com/office/powerpoint/2010/main" val="163672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80">
                                          <p:stCondLst>
                                            <p:cond delay="0"/>
                                          </p:stCondLst>
                                        </p:cTn>
                                        <p:tgtEl>
                                          <p:spTgt spid="5"/>
                                        </p:tgtEl>
                                      </p:cBhvr>
                                    </p:animEffect>
                                    <p:anim calcmode="lin" valueType="num">
                                      <p:cBhvr>
                                        <p:cTn id="2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1" dur="26">
                                          <p:stCondLst>
                                            <p:cond delay="650"/>
                                          </p:stCondLst>
                                        </p:cTn>
                                        <p:tgtEl>
                                          <p:spTgt spid="5"/>
                                        </p:tgtEl>
                                      </p:cBhvr>
                                      <p:to x="100000" y="60000"/>
                                    </p:animScale>
                                    <p:animScale>
                                      <p:cBhvr>
                                        <p:cTn id="32" dur="166" decel="50000">
                                          <p:stCondLst>
                                            <p:cond delay="676"/>
                                          </p:stCondLst>
                                        </p:cTn>
                                        <p:tgtEl>
                                          <p:spTgt spid="5"/>
                                        </p:tgtEl>
                                      </p:cBhvr>
                                      <p:to x="100000" y="100000"/>
                                    </p:animScale>
                                    <p:animScale>
                                      <p:cBhvr>
                                        <p:cTn id="33" dur="26">
                                          <p:stCondLst>
                                            <p:cond delay="1312"/>
                                          </p:stCondLst>
                                        </p:cTn>
                                        <p:tgtEl>
                                          <p:spTgt spid="5"/>
                                        </p:tgtEl>
                                      </p:cBhvr>
                                      <p:to x="100000" y="80000"/>
                                    </p:animScale>
                                    <p:animScale>
                                      <p:cBhvr>
                                        <p:cTn id="34" dur="166" decel="50000">
                                          <p:stCondLst>
                                            <p:cond delay="1338"/>
                                          </p:stCondLst>
                                        </p:cTn>
                                        <p:tgtEl>
                                          <p:spTgt spid="5"/>
                                        </p:tgtEl>
                                      </p:cBhvr>
                                      <p:to x="100000" y="100000"/>
                                    </p:animScale>
                                    <p:animScale>
                                      <p:cBhvr>
                                        <p:cTn id="35" dur="26">
                                          <p:stCondLst>
                                            <p:cond delay="1642"/>
                                          </p:stCondLst>
                                        </p:cTn>
                                        <p:tgtEl>
                                          <p:spTgt spid="5"/>
                                        </p:tgtEl>
                                      </p:cBhvr>
                                      <p:to x="100000" y="90000"/>
                                    </p:animScale>
                                    <p:animScale>
                                      <p:cBhvr>
                                        <p:cTn id="36" dur="166" decel="50000">
                                          <p:stCondLst>
                                            <p:cond delay="1668"/>
                                          </p:stCondLst>
                                        </p:cTn>
                                        <p:tgtEl>
                                          <p:spTgt spid="5"/>
                                        </p:tgtEl>
                                      </p:cBhvr>
                                      <p:to x="100000" y="100000"/>
                                    </p:animScale>
                                    <p:animScale>
                                      <p:cBhvr>
                                        <p:cTn id="37" dur="26">
                                          <p:stCondLst>
                                            <p:cond delay="1808"/>
                                          </p:stCondLst>
                                        </p:cTn>
                                        <p:tgtEl>
                                          <p:spTgt spid="5"/>
                                        </p:tgtEl>
                                      </p:cBhvr>
                                      <p:to x="100000" y="95000"/>
                                    </p:animScale>
                                    <p:animScale>
                                      <p:cBhvr>
                                        <p:cTn id="38" dur="166" decel="50000">
                                          <p:stCondLst>
                                            <p:cond delay="1834"/>
                                          </p:stCondLst>
                                        </p:cTn>
                                        <p:tgtEl>
                                          <p:spTgt spid="5"/>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anim calcmode="lin" valueType="num">
                                      <p:cBhvr additive="base">
                                        <p:cTn id="4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 calcmode="lin" valueType="num">
                                      <p:cBhvr>
                                        <p:cTn id="49"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50"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51"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52"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C747B9-B922-1763-894E-891B1D2B476E}"/>
              </a:ext>
            </a:extLst>
          </p:cNvPr>
          <p:cNvSpPr txBox="1"/>
          <p:nvPr/>
        </p:nvSpPr>
        <p:spPr>
          <a:xfrm>
            <a:off x="323271" y="780535"/>
            <a:ext cx="7740073" cy="584775"/>
          </a:xfrm>
          <a:prstGeom prst="rect">
            <a:avLst/>
          </a:prstGeom>
          <a:noFill/>
        </p:spPr>
        <p:txBody>
          <a:bodyPr wrap="square">
            <a:spAutoFit/>
          </a:bodyPr>
          <a:lstStyle/>
          <a:p>
            <a:r>
              <a:rPr lang="en-US" sz="3200" b="1" dirty="0">
                <a:solidFill>
                  <a:schemeClr val="bg1"/>
                </a:solidFill>
              </a:rPr>
              <a:t>Things we might do based on the data</a:t>
            </a:r>
          </a:p>
        </p:txBody>
      </p:sp>
      <p:sp>
        <p:nvSpPr>
          <p:cNvPr id="7" name="TextBox 6">
            <a:extLst>
              <a:ext uri="{FF2B5EF4-FFF2-40B4-BE49-F238E27FC236}">
                <a16:creationId xmlns:a16="http://schemas.microsoft.com/office/drawing/2014/main" id="{153EE0E8-F939-3873-9ED1-37127E5C20D1}"/>
              </a:ext>
            </a:extLst>
          </p:cNvPr>
          <p:cNvSpPr txBox="1"/>
          <p:nvPr/>
        </p:nvSpPr>
        <p:spPr>
          <a:xfrm>
            <a:off x="323271" y="1704262"/>
            <a:ext cx="11129820"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As for the Caps, they aren't selling in large quantities, only 10 pieces so far. Because of the low sales, they're losing money. We'll need to either market them or stop production.</a:t>
            </a:r>
            <a:endParaRPr lang="en-US" dirty="0"/>
          </a:p>
        </p:txBody>
      </p:sp>
      <p:sp>
        <p:nvSpPr>
          <p:cNvPr id="3" name="TextBox 2">
            <a:extLst>
              <a:ext uri="{FF2B5EF4-FFF2-40B4-BE49-F238E27FC236}">
                <a16:creationId xmlns:a16="http://schemas.microsoft.com/office/drawing/2014/main" id="{99AAB333-9513-271E-6094-A8A3781EA45C}"/>
              </a:ext>
            </a:extLst>
          </p:cNvPr>
          <p:cNvSpPr txBox="1"/>
          <p:nvPr/>
        </p:nvSpPr>
        <p:spPr>
          <a:xfrm>
            <a:off x="323271" y="2689545"/>
            <a:ext cx="11231310"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As for Touring Bikes Road, Frames and Road Bikes</a:t>
            </a:r>
            <a:r>
              <a:rPr lang="ar-SA" dirty="0">
                <a:solidFill>
                  <a:schemeClr val="bg1"/>
                </a:solidFill>
              </a:rPr>
              <a:t> </a:t>
            </a:r>
            <a:r>
              <a:rPr lang="en-US" dirty="0">
                <a:solidFill>
                  <a:schemeClr val="bg1"/>
                </a:solidFill>
              </a:rPr>
              <a:t>, a 5% increase would save them from collapse, and even a small reduction in costs would be profitable.</a:t>
            </a:r>
          </a:p>
        </p:txBody>
      </p:sp>
      <p:sp>
        <p:nvSpPr>
          <p:cNvPr id="6" name="TextBox 5">
            <a:extLst>
              <a:ext uri="{FF2B5EF4-FFF2-40B4-BE49-F238E27FC236}">
                <a16:creationId xmlns:a16="http://schemas.microsoft.com/office/drawing/2014/main" id="{6D1C55C6-9F4B-FBB6-5A27-D221EE430AE9}"/>
              </a:ext>
            </a:extLst>
          </p:cNvPr>
          <p:cNvSpPr txBox="1"/>
          <p:nvPr/>
        </p:nvSpPr>
        <p:spPr>
          <a:xfrm>
            <a:off x="323271" y="3674828"/>
            <a:ext cx="11129820"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The mountain Bikes haven't been addressed even with the increase, so I recommend checking the cost or the suppliers.</a:t>
            </a:r>
          </a:p>
        </p:txBody>
      </p:sp>
      <p:sp>
        <p:nvSpPr>
          <p:cNvPr id="9" name="TextBox 8">
            <a:extLst>
              <a:ext uri="{FF2B5EF4-FFF2-40B4-BE49-F238E27FC236}">
                <a16:creationId xmlns:a16="http://schemas.microsoft.com/office/drawing/2014/main" id="{12C5909E-B13E-BBEE-EFB0-80448901B534}"/>
              </a:ext>
            </a:extLst>
          </p:cNvPr>
          <p:cNvSpPr txBox="1"/>
          <p:nvPr/>
        </p:nvSpPr>
        <p:spPr>
          <a:xfrm>
            <a:off x="425131" y="5069971"/>
            <a:ext cx="11341738" cy="923330"/>
          </a:xfrm>
          <a:prstGeom prst="rect">
            <a:avLst/>
          </a:prstGeom>
          <a:noFill/>
        </p:spPr>
        <p:txBody>
          <a:bodyPr wrap="square">
            <a:spAutoFit/>
          </a:bodyPr>
          <a:lstStyle/>
          <a:p>
            <a:r>
              <a:rPr lang="en-US" b="1" dirty="0">
                <a:solidFill>
                  <a:srgbClr val="C00000"/>
                </a:solidFill>
              </a:rPr>
              <a:t>Bikes are our only hope in this business and are the biggest driver, accounting for 85% of revenue. The company may need to reconsider canceling other products and focus on the losses and costs associated with Bikes</a:t>
            </a:r>
          </a:p>
        </p:txBody>
      </p:sp>
    </p:spTree>
    <p:extLst>
      <p:ext uri="{BB962C8B-B14F-4D97-AF65-F5344CB8AC3E}">
        <p14:creationId xmlns:p14="http://schemas.microsoft.com/office/powerpoint/2010/main" val="3584180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82E2E-3BB2-FA12-5B11-AD3BB9328367}"/>
              </a:ext>
            </a:extLst>
          </p:cNvPr>
          <p:cNvSpPr>
            <a:spLocks noGrp="1"/>
          </p:cNvSpPr>
          <p:nvPr>
            <p:ph type="ctrTitle"/>
          </p:nvPr>
        </p:nvSpPr>
        <p:spPr>
          <a:xfrm>
            <a:off x="1524000" y="1824326"/>
            <a:ext cx="9144000" cy="2387600"/>
          </a:xfrm>
        </p:spPr>
        <p:txBody>
          <a:bodyPr>
            <a:normAutofit/>
          </a:bodyPr>
          <a:lstStyle/>
          <a:p>
            <a:r>
              <a:rPr lang="en-US" sz="11500" b="1" dirty="0">
                <a:solidFill>
                  <a:schemeClr val="bg1"/>
                </a:solidFill>
              </a:rPr>
              <a:t>Thank You</a:t>
            </a:r>
          </a:p>
        </p:txBody>
      </p:sp>
    </p:spTree>
    <p:extLst>
      <p:ext uri="{BB962C8B-B14F-4D97-AF65-F5344CB8AC3E}">
        <p14:creationId xmlns:p14="http://schemas.microsoft.com/office/powerpoint/2010/main" val="355596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TotalTime>
  <Words>1042</Words>
  <Application>Microsoft Office PowerPoint</Application>
  <PresentationFormat>Widescreen</PresentationFormat>
  <Paragraphs>116</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OVERALL PERFORMANCE</vt:lpstr>
      <vt:lpstr>PowerPoint Presentation</vt:lpstr>
      <vt:lpstr> -1OVERVIEW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Hosham Younis</dc:creator>
  <cp:lastModifiedBy>Hosham Younis</cp:lastModifiedBy>
  <cp:revision>9</cp:revision>
  <dcterms:created xsi:type="dcterms:W3CDTF">2026-01-06T21:05:39Z</dcterms:created>
  <dcterms:modified xsi:type="dcterms:W3CDTF">2026-01-14T05:02:17Z</dcterms:modified>
</cp:coreProperties>
</file>